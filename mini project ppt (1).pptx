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74" r:id="rId6"/>
    <p:sldId id="268" r:id="rId7"/>
    <p:sldId id="269" r:id="rId8"/>
    <p:sldId id="270" r:id="rId9"/>
    <p:sldId id="280" r:id="rId10"/>
    <p:sldId id="276" r:id="rId11"/>
    <p:sldId id="273" r:id="rId12"/>
    <p:sldId id="278" r:id="rId13"/>
    <p:sldId id="279" r:id="rId14"/>
    <p:sldId id="275" r:id="rId15"/>
    <p:sldId id="281" r:id="rId16"/>
    <p:sldId id="282" r:id="rId17"/>
    <p:sldId id="271" r:id="rId18"/>
    <p:sldId id="277"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7FE97-192B-4C09-BA3B-0CC5864B08BC}" type="datetimeFigureOut">
              <a:rPr lang="en-IN" smtClean="0"/>
              <a:t>05-01-2026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60D96-D4AA-40CF-8F8C-FDDA7D0B21EA}" type="slidenum">
              <a:rPr lang="en-IN" smtClean="0"/>
              <a:t>‹#›</a:t>
            </a:fld>
            <a:endParaRPr lang="en-IN"/>
          </a:p>
        </p:txBody>
      </p:sp>
    </p:spTree>
    <p:extLst>
      <p:ext uri="{BB962C8B-B14F-4D97-AF65-F5344CB8AC3E}">
        <p14:creationId xmlns:p14="http://schemas.microsoft.com/office/powerpoint/2010/main" val="1505222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A60D96-D4AA-40CF-8F8C-FDDA7D0B21EA}" type="slidenum">
              <a:rPr lang="en-IN" smtClean="0"/>
              <a:t>4</a:t>
            </a:fld>
            <a:endParaRPr lang="en-IN"/>
          </a:p>
        </p:txBody>
      </p:sp>
    </p:spTree>
    <p:extLst>
      <p:ext uri="{BB962C8B-B14F-4D97-AF65-F5344CB8AC3E}">
        <p14:creationId xmlns:p14="http://schemas.microsoft.com/office/powerpoint/2010/main" val="2006807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8FEDE-023D-7F59-B124-A3ACC490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88247-AC7A-AA01-EBA6-1459DEAB5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81A21-8762-600D-05DA-23C6378ADD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1090A2-FEF9-6A2E-1AD2-3BC9C35C073E}"/>
              </a:ext>
            </a:extLst>
          </p:cNvPr>
          <p:cNvSpPr>
            <a:spLocks noGrp="1"/>
          </p:cNvSpPr>
          <p:nvPr>
            <p:ph type="sldNum" sz="quarter" idx="5"/>
          </p:nvPr>
        </p:nvSpPr>
        <p:spPr/>
        <p:txBody>
          <a:bodyPr/>
          <a:lstStyle/>
          <a:p>
            <a:fld id="{D7A60D96-D4AA-40CF-8F8C-FDDA7D0B21EA}" type="slidenum">
              <a:rPr lang="en-IN" smtClean="0"/>
              <a:t>5</a:t>
            </a:fld>
            <a:endParaRPr lang="en-IN"/>
          </a:p>
        </p:txBody>
      </p:sp>
    </p:spTree>
    <p:extLst>
      <p:ext uri="{BB962C8B-B14F-4D97-AF65-F5344CB8AC3E}">
        <p14:creationId xmlns:p14="http://schemas.microsoft.com/office/powerpoint/2010/main" val="3998318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A60D96-D4AA-40CF-8F8C-FDDA7D0B21EA}" type="slidenum">
              <a:rPr lang="en-IN" smtClean="0"/>
              <a:t>6</a:t>
            </a:fld>
            <a:endParaRPr lang="en-IN"/>
          </a:p>
        </p:txBody>
      </p:sp>
    </p:spTree>
    <p:extLst>
      <p:ext uri="{BB962C8B-B14F-4D97-AF65-F5344CB8AC3E}">
        <p14:creationId xmlns:p14="http://schemas.microsoft.com/office/powerpoint/2010/main" val="1481443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6" name="PlaceHolder 2"/>
          <p:cNvSpPr>
            <a:spLocks noGrp="1"/>
          </p:cNvSpPr>
          <p:nvPr>
            <p:ph type="subTitle"/>
          </p:nvPr>
        </p:nvSpPr>
        <p:spPr>
          <a:xfrm>
            <a:off x="613800" y="1567080"/>
            <a:ext cx="10963800" cy="397764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8" name="PlaceHolder 2"/>
          <p:cNvSpPr>
            <a:spLocks noGrp="1"/>
          </p:cNvSpPr>
          <p:nvPr>
            <p:ph type="body"/>
          </p:nvPr>
        </p:nvSpPr>
        <p:spPr>
          <a:xfrm>
            <a:off x="613800" y="1567080"/>
            <a:ext cx="10963800" cy="397764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10" name="PlaceHolder 2"/>
          <p:cNvSpPr>
            <a:spLocks noGrp="1"/>
          </p:cNvSpPr>
          <p:nvPr>
            <p:ph type="body"/>
          </p:nvPr>
        </p:nvSpPr>
        <p:spPr>
          <a:xfrm>
            <a:off x="613800" y="1567080"/>
            <a:ext cx="5350320" cy="397764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11" name="PlaceHolder 3"/>
          <p:cNvSpPr>
            <a:spLocks noGrp="1"/>
          </p:cNvSpPr>
          <p:nvPr>
            <p:ph type="body"/>
          </p:nvPr>
        </p:nvSpPr>
        <p:spPr>
          <a:xfrm>
            <a:off x="6231960" y="1567080"/>
            <a:ext cx="5350320" cy="397764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2275200" y="610200"/>
            <a:ext cx="7641360" cy="530964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15" name="PlaceHolder 2"/>
          <p:cNvSpPr>
            <a:spLocks noGrp="1"/>
          </p:cNvSpPr>
          <p:nvPr>
            <p:ph type="body"/>
          </p:nvPr>
        </p:nvSpPr>
        <p:spPr>
          <a:xfrm>
            <a:off x="61380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16" name="PlaceHolder 3"/>
          <p:cNvSpPr>
            <a:spLocks noGrp="1"/>
          </p:cNvSpPr>
          <p:nvPr>
            <p:ph type="body"/>
          </p:nvPr>
        </p:nvSpPr>
        <p:spPr>
          <a:xfrm>
            <a:off x="6231960" y="1567080"/>
            <a:ext cx="5350320" cy="397764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17" name="PlaceHolder 4"/>
          <p:cNvSpPr>
            <a:spLocks noGrp="1"/>
          </p:cNvSpPr>
          <p:nvPr>
            <p:ph type="body"/>
          </p:nvPr>
        </p:nvSpPr>
        <p:spPr>
          <a:xfrm>
            <a:off x="613800" y="364500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19" name="PlaceHolder 2"/>
          <p:cNvSpPr>
            <a:spLocks noGrp="1"/>
          </p:cNvSpPr>
          <p:nvPr>
            <p:ph type="body"/>
          </p:nvPr>
        </p:nvSpPr>
        <p:spPr>
          <a:xfrm>
            <a:off x="613800" y="1567080"/>
            <a:ext cx="5350320" cy="397764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20" name="PlaceHolder 3"/>
          <p:cNvSpPr>
            <a:spLocks noGrp="1"/>
          </p:cNvSpPr>
          <p:nvPr>
            <p:ph type="body"/>
          </p:nvPr>
        </p:nvSpPr>
        <p:spPr>
          <a:xfrm>
            <a:off x="623196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21" name="PlaceHolder 4"/>
          <p:cNvSpPr>
            <a:spLocks noGrp="1"/>
          </p:cNvSpPr>
          <p:nvPr>
            <p:ph type="body"/>
          </p:nvPr>
        </p:nvSpPr>
        <p:spPr>
          <a:xfrm>
            <a:off x="6231960" y="364500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23" name="PlaceHolder 2"/>
          <p:cNvSpPr>
            <a:spLocks noGrp="1"/>
          </p:cNvSpPr>
          <p:nvPr>
            <p:ph type="body"/>
          </p:nvPr>
        </p:nvSpPr>
        <p:spPr>
          <a:xfrm>
            <a:off x="61380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24" name="PlaceHolder 3"/>
          <p:cNvSpPr>
            <a:spLocks noGrp="1"/>
          </p:cNvSpPr>
          <p:nvPr>
            <p:ph type="body"/>
          </p:nvPr>
        </p:nvSpPr>
        <p:spPr>
          <a:xfrm>
            <a:off x="623196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25" name="PlaceHolder 4"/>
          <p:cNvSpPr>
            <a:spLocks noGrp="1"/>
          </p:cNvSpPr>
          <p:nvPr>
            <p:ph type="body"/>
          </p:nvPr>
        </p:nvSpPr>
        <p:spPr>
          <a:xfrm>
            <a:off x="613800" y="3645000"/>
            <a:ext cx="1096380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27" name="PlaceHolder 2"/>
          <p:cNvSpPr>
            <a:spLocks noGrp="1"/>
          </p:cNvSpPr>
          <p:nvPr>
            <p:ph type="body"/>
          </p:nvPr>
        </p:nvSpPr>
        <p:spPr>
          <a:xfrm>
            <a:off x="613800" y="1567080"/>
            <a:ext cx="1096380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28" name="PlaceHolder 3"/>
          <p:cNvSpPr>
            <a:spLocks noGrp="1"/>
          </p:cNvSpPr>
          <p:nvPr>
            <p:ph type="body"/>
          </p:nvPr>
        </p:nvSpPr>
        <p:spPr>
          <a:xfrm>
            <a:off x="613800" y="3645000"/>
            <a:ext cx="1096380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30" name="PlaceHolder 2"/>
          <p:cNvSpPr>
            <a:spLocks noGrp="1"/>
          </p:cNvSpPr>
          <p:nvPr>
            <p:ph type="body"/>
          </p:nvPr>
        </p:nvSpPr>
        <p:spPr>
          <a:xfrm>
            <a:off x="61380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1" name="PlaceHolder 3"/>
          <p:cNvSpPr>
            <a:spLocks noGrp="1"/>
          </p:cNvSpPr>
          <p:nvPr>
            <p:ph type="body"/>
          </p:nvPr>
        </p:nvSpPr>
        <p:spPr>
          <a:xfrm>
            <a:off x="6231960" y="156708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2" name="PlaceHolder 4"/>
          <p:cNvSpPr>
            <a:spLocks noGrp="1"/>
          </p:cNvSpPr>
          <p:nvPr>
            <p:ph type="body"/>
          </p:nvPr>
        </p:nvSpPr>
        <p:spPr>
          <a:xfrm>
            <a:off x="613800" y="364500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3" name="PlaceHolder 5"/>
          <p:cNvSpPr>
            <a:spLocks noGrp="1"/>
          </p:cNvSpPr>
          <p:nvPr>
            <p:ph type="body"/>
          </p:nvPr>
        </p:nvSpPr>
        <p:spPr>
          <a:xfrm>
            <a:off x="6231960" y="3645000"/>
            <a:ext cx="535032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2275200" y="610200"/>
            <a:ext cx="7641360" cy="1145160"/>
          </a:xfrm>
          <a:prstGeom prst="rect">
            <a:avLst/>
          </a:prstGeom>
        </p:spPr>
        <p:txBody>
          <a:bodyPr lIns="0" tIns="0" rIns="0" bIns="0" anchor="ctr"/>
          <a:lstStyle/>
          <a:p>
            <a:endParaRPr lang="en-IN" sz="1400" b="0" strike="noStrike" spc="-1">
              <a:solidFill>
                <a:srgbClr val="000000"/>
              </a:solidFill>
              <a:latin typeface="Arial"/>
            </a:endParaRPr>
          </a:p>
        </p:txBody>
      </p:sp>
      <p:sp>
        <p:nvSpPr>
          <p:cNvPr id="35" name="PlaceHolder 2"/>
          <p:cNvSpPr>
            <a:spLocks noGrp="1"/>
          </p:cNvSpPr>
          <p:nvPr>
            <p:ph type="body"/>
          </p:nvPr>
        </p:nvSpPr>
        <p:spPr>
          <a:xfrm>
            <a:off x="613800" y="156708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6" name="PlaceHolder 3"/>
          <p:cNvSpPr>
            <a:spLocks noGrp="1"/>
          </p:cNvSpPr>
          <p:nvPr>
            <p:ph type="body"/>
          </p:nvPr>
        </p:nvSpPr>
        <p:spPr>
          <a:xfrm>
            <a:off x="4320720" y="156708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7" name="PlaceHolder 4"/>
          <p:cNvSpPr>
            <a:spLocks noGrp="1"/>
          </p:cNvSpPr>
          <p:nvPr>
            <p:ph type="body"/>
          </p:nvPr>
        </p:nvSpPr>
        <p:spPr>
          <a:xfrm>
            <a:off x="8028000" y="156708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8" name="PlaceHolder 5"/>
          <p:cNvSpPr>
            <a:spLocks noGrp="1"/>
          </p:cNvSpPr>
          <p:nvPr>
            <p:ph type="body"/>
          </p:nvPr>
        </p:nvSpPr>
        <p:spPr>
          <a:xfrm>
            <a:off x="613800" y="364500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39" name="PlaceHolder 6"/>
          <p:cNvSpPr>
            <a:spLocks noGrp="1"/>
          </p:cNvSpPr>
          <p:nvPr>
            <p:ph type="body"/>
          </p:nvPr>
        </p:nvSpPr>
        <p:spPr>
          <a:xfrm>
            <a:off x="4320720" y="364500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
        <p:nvSpPr>
          <p:cNvPr id="40" name="PlaceHolder 7"/>
          <p:cNvSpPr>
            <a:spLocks noGrp="1"/>
          </p:cNvSpPr>
          <p:nvPr>
            <p:ph type="body"/>
          </p:nvPr>
        </p:nvSpPr>
        <p:spPr>
          <a:xfrm>
            <a:off x="8028000" y="3645000"/>
            <a:ext cx="3530160" cy="1897200"/>
          </a:xfrm>
          <a:prstGeom prst="rect">
            <a:avLst/>
          </a:prstGeom>
        </p:spPr>
        <p:txBody>
          <a:bodyPr lIns="0" tIns="0" rIns="0" bIns="0">
            <a:normAutofit/>
          </a:bodyPr>
          <a:lstStyle/>
          <a:p>
            <a:endParaRPr lang="en-IN" sz="1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275200" y="610200"/>
            <a:ext cx="7641360" cy="1145160"/>
          </a:xfrm>
          <a:prstGeom prst="rect">
            <a:avLst/>
          </a:prstGeom>
        </p:spPr>
        <p:txBody>
          <a:bodyPr lIns="0" tIns="0" rIns="0" bIns="0"/>
          <a:lstStyle/>
          <a:p>
            <a:r>
              <a:rPr lang="en-IN" sz="2110" b="0" strike="noStrike" spc="-1">
                <a:solidFill>
                  <a:srgbClr val="000000"/>
                </a:solidFill>
                <a:latin typeface="Arial"/>
              </a:rPr>
              <a:t>Click to edit the title text format</a:t>
            </a:r>
          </a:p>
        </p:txBody>
      </p:sp>
      <p:sp>
        <p:nvSpPr>
          <p:cNvPr id="6" name="PlaceHolder 2"/>
          <p:cNvSpPr>
            <a:spLocks noGrp="1"/>
          </p:cNvSpPr>
          <p:nvPr>
            <p:ph type="body"/>
          </p:nvPr>
        </p:nvSpPr>
        <p:spPr>
          <a:xfrm>
            <a:off x="613800" y="1567080"/>
            <a:ext cx="10963800" cy="3977640"/>
          </a:xfrm>
          <a:prstGeom prst="rect">
            <a:avLst/>
          </a:prstGeom>
        </p:spPr>
        <p:txBody>
          <a:bodyPr lIns="0" tIns="0" rIns="0" bIns="0"/>
          <a:lstStyle/>
          <a:p>
            <a:pPr marL="432000" indent="-324000">
              <a:spcBef>
                <a:spcPts val="1417"/>
              </a:spcBef>
              <a:buClr>
                <a:srgbClr val="000000"/>
              </a:buClr>
              <a:buSzPct val="45000"/>
              <a:buFont typeface="Wingdings" charset="2"/>
              <a:buChar char=""/>
            </a:pPr>
            <a:r>
              <a:rPr lang="en-IN" sz="127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27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27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27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27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27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270" b="0" strike="noStrike" spc="-1">
                <a:solidFill>
                  <a:srgbClr val="000000"/>
                </a:solidFill>
                <a:latin typeface="Arial"/>
              </a:rPr>
              <a:t>Seventh Outline Level</a:t>
            </a:r>
          </a:p>
        </p:txBody>
      </p:sp>
      <p:sp>
        <p:nvSpPr>
          <p:cNvPr id="2" name="PlaceHolder 3"/>
          <p:cNvSpPr>
            <a:spLocks noGrp="1"/>
          </p:cNvSpPr>
          <p:nvPr>
            <p:ph type="ftr"/>
          </p:nvPr>
        </p:nvSpPr>
        <p:spPr>
          <a:xfrm>
            <a:off x="8035920" y="6453720"/>
            <a:ext cx="3875760" cy="3977640"/>
          </a:xfrm>
          <a:prstGeom prst="rect">
            <a:avLst/>
          </a:prstGeom>
        </p:spPr>
        <p:txBody>
          <a:bodyPr lIns="0" tIns="0" rIns="0" bIns="0"/>
          <a:lstStyle/>
          <a:p>
            <a:endParaRPr lang="en-IN" sz="2400" b="0" strike="noStrike" spc="-1">
              <a:latin typeface="Times New Roman"/>
            </a:endParaRPr>
          </a:p>
        </p:txBody>
      </p:sp>
      <p:sp>
        <p:nvSpPr>
          <p:cNvPr id="3" name="PlaceHolder 4"/>
          <p:cNvSpPr>
            <a:spLocks noGrp="1"/>
          </p:cNvSpPr>
          <p:nvPr>
            <p:ph type="dt"/>
          </p:nvPr>
        </p:nvSpPr>
        <p:spPr>
          <a:xfrm>
            <a:off x="609480" y="6378120"/>
            <a:ext cx="2803680" cy="3977640"/>
          </a:xfrm>
          <a:prstGeom prst="rect">
            <a:avLst/>
          </a:prstGeom>
        </p:spPr>
        <p:txBody>
          <a:bodyPr lIns="0" tIns="0" rIns="0" bIns="0"/>
          <a:lstStyle/>
          <a:p>
            <a:endParaRPr lang="en-IN" sz="2400" b="0" strike="noStrike" spc="-1">
              <a:latin typeface="Times New Roman"/>
            </a:endParaRPr>
          </a:p>
        </p:txBody>
      </p:sp>
      <p:sp>
        <p:nvSpPr>
          <p:cNvPr id="4" name="PlaceHolder 5"/>
          <p:cNvSpPr>
            <a:spLocks noGrp="1"/>
          </p:cNvSpPr>
          <p:nvPr>
            <p:ph type="sldNum"/>
          </p:nvPr>
        </p:nvSpPr>
        <p:spPr>
          <a:xfrm>
            <a:off x="8778240" y="6378120"/>
            <a:ext cx="2803680" cy="3977640"/>
          </a:xfrm>
          <a:prstGeom prst="rect">
            <a:avLst/>
          </a:prstGeom>
        </p:spPr>
        <p:txBody>
          <a:bodyPr lIns="0" tIns="0" rIns="0" bIns="0"/>
          <a:lstStyle/>
          <a:p>
            <a:pPr algn="r">
              <a:lnSpc>
                <a:spcPct val="100000"/>
              </a:lnSpc>
            </a:pPr>
            <a:fld id="{1EEBF702-314E-48E4-A288-536F5E416BCD}" type="slidenum">
              <a:rPr lang="en-IN" sz="1200" b="0" strike="noStrike" spc="-1">
                <a:solidFill>
                  <a:srgbClr val="888888"/>
                </a:solidFill>
                <a:latin typeface="Calibri"/>
                <a:ea typeface="Calibri"/>
              </a:rPr>
              <a:t>‹#›</a:t>
            </a:fld>
            <a:endParaRPr lang="en-IN"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1"/>
          <p:cNvGrpSpPr/>
          <p:nvPr/>
        </p:nvGrpSpPr>
        <p:grpSpPr>
          <a:xfrm>
            <a:off x="0" y="72000"/>
            <a:ext cx="12191760" cy="6785640"/>
            <a:chOff x="0" y="72000"/>
            <a:chExt cx="12191760" cy="6785640"/>
          </a:xfrm>
        </p:grpSpPr>
        <p:pic>
          <p:nvPicPr>
            <p:cNvPr id="42" name="Google Shape;98;p2"/>
            <p:cNvPicPr/>
            <p:nvPr/>
          </p:nvPicPr>
          <p:blipFill>
            <a:blip r:embed="rId2"/>
            <a:stretch/>
          </p:blipFill>
          <p:spPr>
            <a:xfrm>
              <a:off x="11211120" y="72000"/>
              <a:ext cx="830520" cy="809640"/>
            </a:xfrm>
            <a:prstGeom prst="rect">
              <a:avLst/>
            </a:prstGeom>
            <a:ln>
              <a:noFill/>
            </a:ln>
          </p:spPr>
        </p:pic>
        <p:sp>
          <p:nvSpPr>
            <p:cNvPr id="43"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44"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45"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46"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47"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48" name="CustomShape 7"/>
          <p:cNvSpPr/>
          <p:nvPr/>
        </p:nvSpPr>
        <p:spPr>
          <a:xfrm>
            <a:off x="0" y="9424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49" name="CustomShape 8"/>
          <p:cNvSpPr/>
          <p:nvPr/>
        </p:nvSpPr>
        <p:spPr>
          <a:xfrm>
            <a:off x="0" y="129240"/>
            <a:ext cx="10924560" cy="1188000"/>
          </a:xfrm>
          <a:prstGeom prst="rect">
            <a:avLst/>
          </a:prstGeom>
          <a:noFill/>
          <a:ln>
            <a:noFill/>
          </a:ln>
        </p:spPr>
        <p:style>
          <a:lnRef idx="0">
            <a:scrgbClr r="0" g="0" b="0"/>
          </a:lnRef>
          <a:fillRef idx="0">
            <a:scrgbClr r="0" g="0" b="0"/>
          </a:fillRef>
          <a:effectRef idx="0">
            <a:scrgbClr r="0" g="0" b="0"/>
          </a:effectRef>
          <a:fontRef idx="minor"/>
        </p:style>
        <p:txBody>
          <a:bodyPr/>
          <a:lstStyle/>
          <a:p>
            <a:pPr algn="ctr">
              <a:lnSpc>
                <a:spcPct val="100000"/>
              </a:lnSpc>
            </a:pPr>
            <a:r>
              <a:rPr lang="en-IN" sz="2400" b="1" strike="noStrike" spc="-1" dirty="0">
                <a:solidFill>
                  <a:srgbClr val="006EAD"/>
                </a:solidFill>
                <a:latin typeface="Arial"/>
                <a:ea typeface="Arial"/>
              </a:rPr>
              <a:t>DAYANANDA SAGAR ACADEMY OF TECHNOLOGY &amp; MANAGEMENT Bangalore 560082 , India</a:t>
            </a:r>
            <a:endParaRPr lang="en-IN" sz="2400" b="0" strike="noStrike" spc="-1" dirty="0">
              <a:latin typeface="Arial"/>
            </a:endParaRPr>
          </a:p>
          <a:p>
            <a:pPr algn="ctr">
              <a:lnSpc>
                <a:spcPct val="100000"/>
              </a:lnSpc>
              <a:spcBef>
                <a:spcPts val="1199"/>
              </a:spcBef>
            </a:pPr>
            <a:endParaRPr lang="en-IN" sz="2400" b="0" strike="noStrike" spc="-1" dirty="0">
              <a:latin typeface="Arial"/>
            </a:endParaRPr>
          </a:p>
        </p:txBody>
      </p:sp>
      <p:sp>
        <p:nvSpPr>
          <p:cNvPr id="50" name="CustomShape 9"/>
          <p:cNvSpPr/>
          <p:nvPr/>
        </p:nvSpPr>
        <p:spPr>
          <a:xfrm>
            <a:off x="1939320" y="1096200"/>
            <a:ext cx="8046720" cy="426960"/>
          </a:xfrm>
          <a:prstGeom prst="rect">
            <a:avLst/>
          </a:prstGeom>
          <a:noFill/>
          <a:ln>
            <a:noFill/>
          </a:ln>
        </p:spPr>
        <p:style>
          <a:lnRef idx="0">
            <a:scrgbClr r="0" g="0" b="0"/>
          </a:lnRef>
          <a:fillRef idx="0">
            <a:scrgbClr r="0" g="0" b="0"/>
          </a:fillRef>
          <a:effectRef idx="0">
            <a:scrgbClr r="0" g="0" b="0"/>
          </a:effectRef>
          <a:fontRef idx="minor"/>
        </p:style>
        <p:txBody>
          <a:bodyPr/>
          <a:lstStyle/>
          <a:p>
            <a:pPr>
              <a:lnSpc>
                <a:spcPct val="100000"/>
              </a:lnSpc>
            </a:pPr>
            <a:r>
              <a:rPr lang="en-IN" sz="2200" b="1" strike="noStrike" spc="-1">
                <a:solidFill>
                  <a:srgbClr val="000000"/>
                </a:solidFill>
                <a:latin typeface="Times New Roman"/>
                <a:ea typeface="Arial"/>
              </a:rPr>
              <a:t>     Department of Electronics &amp; Communication Engineering </a:t>
            </a:r>
            <a:endParaRPr lang="en-IN" sz="2200" b="0" strike="noStrike" spc="-1">
              <a:latin typeface="Arial"/>
            </a:endParaRPr>
          </a:p>
        </p:txBody>
      </p:sp>
      <p:sp>
        <p:nvSpPr>
          <p:cNvPr id="51" name="CustomShape 10"/>
          <p:cNvSpPr/>
          <p:nvPr/>
        </p:nvSpPr>
        <p:spPr>
          <a:xfrm>
            <a:off x="2072640" y="2090880"/>
            <a:ext cx="8046720" cy="1021680"/>
          </a:xfrm>
          <a:prstGeom prst="rect">
            <a:avLst/>
          </a:prstGeom>
          <a:noFill/>
          <a:ln>
            <a:noFill/>
          </a:ln>
        </p:spPr>
        <p:style>
          <a:lnRef idx="0">
            <a:scrgbClr r="0" g="0" b="0"/>
          </a:lnRef>
          <a:fillRef idx="0">
            <a:scrgbClr r="0" g="0" b="0"/>
          </a:fillRef>
          <a:effectRef idx="0">
            <a:scrgbClr r="0" g="0" b="0"/>
          </a:effectRef>
          <a:fontRef idx="minor"/>
        </p:style>
        <p:txBody>
          <a:bodyPr tIns="91440" bIns="91440"/>
          <a:lstStyle/>
          <a:p>
            <a:pPr algn="ctr">
              <a:lnSpc>
                <a:spcPct val="100000"/>
              </a:lnSpc>
            </a:pPr>
            <a:r>
              <a:rPr lang="en-IN" sz="2000" b="1" strike="noStrike" spc="-1" dirty="0">
                <a:solidFill>
                  <a:srgbClr val="000000"/>
                </a:solidFill>
                <a:latin typeface="Times New Roman"/>
                <a:ea typeface="Arial"/>
              </a:rPr>
              <a:t>Title: </a:t>
            </a:r>
            <a:r>
              <a:rPr lang="en-US" sz="2000" b="1" strike="noStrike" spc="-1" dirty="0">
                <a:solidFill>
                  <a:srgbClr val="000000"/>
                </a:solidFill>
                <a:latin typeface="Times New Roman"/>
                <a:ea typeface="Calibri"/>
                <a:cs typeface="Times New Roman"/>
              </a:rPr>
              <a:t>Design and Implementation of DLDO</a:t>
            </a:r>
            <a:r>
              <a:rPr lang="en-US" sz="2000" b="1" spc="-1" dirty="0">
                <a:solidFill>
                  <a:srgbClr val="000000"/>
                </a:solidFill>
                <a:latin typeface="Times New Roman"/>
                <a:ea typeface="Calibri"/>
                <a:cs typeface="Times New Roman"/>
              </a:rPr>
              <a:t> (Digital Low Dropout Regulator)</a:t>
            </a:r>
            <a:endParaRPr lang="en-IN" sz="2000" b="0" strike="noStrike" spc="-1" dirty="0">
              <a:latin typeface="Arial"/>
            </a:endParaRPr>
          </a:p>
        </p:txBody>
      </p:sp>
      <p:sp>
        <p:nvSpPr>
          <p:cNvPr id="52" name="CustomShape 11"/>
          <p:cNvSpPr/>
          <p:nvPr/>
        </p:nvSpPr>
        <p:spPr>
          <a:xfrm>
            <a:off x="1634505" y="3476655"/>
            <a:ext cx="5648325" cy="1702440"/>
          </a:xfrm>
          <a:prstGeom prst="rect">
            <a:avLst/>
          </a:prstGeom>
          <a:noFill/>
          <a:ln>
            <a:noFill/>
          </a:ln>
        </p:spPr>
        <p:style>
          <a:lnRef idx="0">
            <a:scrgbClr r="0" g="0" b="0"/>
          </a:lnRef>
          <a:fillRef idx="0">
            <a:scrgbClr r="0" g="0" b="0"/>
          </a:fillRef>
          <a:effectRef idx="0">
            <a:scrgbClr r="0" g="0" b="0"/>
          </a:effectRef>
          <a:fontRef idx="minor"/>
        </p:style>
        <p:txBody>
          <a:bodyPr tIns="91440" bIns="91440"/>
          <a:lstStyle/>
          <a:p>
            <a:pPr>
              <a:lnSpc>
                <a:spcPct val="100000"/>
              </a:lnSpc>
            </a:pPr>
            <a:r>
              <a:rPr lang="en-IN" sz="1600" b="1" strike="noStrike" spc="-1" dirty="0">
                <a:solidFill>
                  <a:srgbClr val="000000"/>
                </a:solidFill>
                <a:latin typeface="Times New Roman"/>
                <a:ea typeface="Tahoma"/>
              </a:rPr>
              <a:t>                Presented by</a:t>
            </a:r>
            <a:endParaRPr lang="en-IN" sz="1600" b="0" strike="noStrike" spc="-1" dirty="0">
              <a:latin typeface="Arial"/>
            </a:endParaRPr>
          </a:p>
          <a:p>
            <a:pPr>
              <a:lnSpc>
                <a:spcPct val="100000"/>
              </a:lnSpc>
            </a:pPr>
            <a:r>
              <a:rPr lang="en-IN" sz="1600" b="1" strike="noStrike" spc="-1" dirty="0">
                <a:solidFill>
                  <a:srgbClr val="000000"/>
                </a:solidFill>
                <a:latin typeface="Times New Roman"/>
                <a:ea typeface="Arial"/>
              </a:rPr>
              <a:t>                   </a:t>
            </a:r>
            <a:r>
              <a:rPr lang="en-IN" sz="1600" b="1" spc="-1" dirty="0">
                <a:solidFill>
                  <a:srgbClr val="000000"/>
                </a:solidFill>
                <a:latin typeface="Times New Roman"/>
                <a:ea typeface="Arial"/>
              </a:rPr>
              <a:t>Adith Soragu </a:t>
            </a:r>
            <a:r>
              <a:rPr lang="en-IN" sz="1600" b="1" strike="noStrike" spc="-1" dirty="0">
                <a:solidFill>
                  <a:srgbClr val="000000"/>
                </a:solidFill>
                <a:latin typeface="Times New Roman"/>
                <a:ea typeface="Arial"/>
              </a:rPr>
              <a:t>(1DT23EC003)</a:t>
            </a:r>
          </a:p>
          <a:p>
            <a:pPr>
              <a:lnSpc>
                <a:spcPct val="100000"/>
              </a:lnSpc>
            </a:pPr>
            <a:r>
              <a:rPr lang="en-IN" sz="1600" b="1" spc="-1" dirty="0">
                <a:solidFill>
                  <a:srgbClr val="000000"/>
                </a:solidFill>
                <a:latin typeface="Times New Roman"/>
              </a:rPr>
              <a:t>	 A Yaswanth (1DT23EC009)</a:t>
            </a:r>
          </a:p>
          <a:p>
            <a:pPr>
              <a:lnSpc>
                <a:spcPct val="100000"/>
              </a:lnSpc>
            </a:pPr>
            <a:r>
              <a:rPr lang="en-IN" sz="1600" b="0" strike="noStrike" spc="-1" dirty="0">
                <a:latin typeface="Arial"/>
              </a:rPr>
              <a:t>	 </a:t>
            </a:r>
            <a:r>
              <a:rPr lang="en-GB" sz="1600" b="1" strike="noStrike" spc="-1" dirty="0">
                <a:latin typeface="Times New Roman"/>
                <a:ea typeface="Calibri"/>
                <a:cs typeface="Times New Roman"/>
              </a:rPr>
              <a:t>K</a:t>
            </a:r>
            <a:r>
              <a:rPr lang="en-GB" sz="1600" b="1" dirty="0">
                <a:latin typeface="Times New Roman"/>
                <a:ea typeface="Calibri"/>
                <a:cs typeface="Times New Roman"/>
              </a:rPr>
              <a:t> </a:t>
            </a:r>
            <a:r>
              <a:rPr lang="en-GB" sz="1600" b="1" dirty="0" err="1">
                <a:latin typeface="Times New Roman"/>
                <a:ea typeface="Calibri"/>
                <a:cs typeface="Times New Roman"/>
              </a:rPr>
              <a:t>Shobith</a:t>
            </a:r>
            <a:r>
              <a:rPr lang="en-GB" sz="1600" b="1" dirty="0">
                <a:latin typeface="Times New Roman"/>
                <a:ea typeface="Calibri"/>
                <a:cs typeface="Times New Roman"/>
              </a:rPr>
              <a:t> Kumar (1DT23EC040)</a:t>
            </a:r>
          </a:p>
          <a:p>
            <a:pPr>
              <a:lnSpc>
                <a:spcPct val="100000"/>
              </a:lnSpc>
            </a:pPr>
            <a:r>
              <a:rPr lang="en-GB" sz="1600" b="1" strike="noStrike" spc="-1" dirty="0">
                <a:latin typeface="Times New Roman"/>
                <a:ea typeface="Calibri"/>
                <a:cs typeface="Times New Roman"/>
              </a:rPr>
              <a:t>	</a:t>
            </a:r>
            <a:r>
              <a:rPr lang="en-GB" sz="1600" strike="noStrike" spc="-1" dirty="0">
                <a:latin typeface="Times New Roman"/>
                <a:ea typeface="Calibri"/>
                <a:cs typeface="Times New Roman"/>
              </a:rPr>
              <a:t> </a:t>
            </a:r>
            <a:r>
              <a:rPr lang="en-GB" sz="1600" b="1" strike="noStrike" spc="-1" dirty="0" err="1">
                <a:latin typeface="Times New Roman"/>
                <a:ea typeface="Calibri"/>
                <a:cs typeface="Times New Roman"/>
              </a:rPr>
              <a:t>C</a:t>
            </a:r>
            <a:r>
              <a:rPr lang="en-GB" sz="1600" b="1" dirty="0" err="1">
                <a:latin typeface="Times New Roman"/>
                <a:ea typeface="Calibri"/>
                <a:cs typeface="Times New Roman"/>
              </a:rPr>
              <a:t>haluvaraju</a:t>
            </a:r>
            <a:r>
              <a:rPr lang="en-GB" sz="1600" b="1" dirty="0">
                <a:latin typeface="Times New Roman"/>
                <a:ea typeface="Calibri"/>
                <a:cs typeface="Times New Roman"/>
              </a:rPr>
              <a:t> SN (1DT24EC401)</a:t>
            </a:r>
            <a:endParaRPr lang="en-IN" sz="1600" b="1" strike="noStrike" spc="-1" dirty="0">
              <a:latin typeface="Arial"/>
            </a:endParaRPr>
          </a:p>
        </p:txBody>
      </p:sp>
      <p:sp>
        <p:nvSpPr>
          <p:cNvPr id="53" name="CustomShape 12"/>
          <p:cNvSpPr/>
          <p:nvPr/>
        </p:nvSpPr>
        <p:spPr>
          <a:xfrm>
            <a:off x="3524249" y="5187375"/>
            <a:ext cx="5128683" cy="946725"/>
          </a:xfrm>
          <a:prstGeom prst="rect">
            <a:avLst/>
          </a:prstGeom>
          <a:noFill/>
          <a:ln>
            <a:noFill/>
          </a:ln>
        </p:spPr>
        <p:style>
          <a:lnRef idx="0">
            <a:scrgbClr r="0" g="0" b="0"/>
          </a:lnRef>
          <a:fillRef idx="0">
            <a:scrgbClr r="0" g="0" b="0"/>
          </a:fillRef>
          <a:effectRef idx="0">
            <a:scrgbClr r="0" g="0" b="0"/>
          </a:effectRef>
          <a:fontRef idx="minor"/>
        </p:style>
        <p:txBody>
          <a:bodyPr tIns="91440" bIns="91440"/>
          <a:lstStyle/>
          <a:p>
            <a:pPr>
              <a:lnSpc>
                <a:spcPct val="100000"/>
              </a:lnSpc>
            </a:pPr>
            <a:r>
              <a:rPr lang="en-IN" sz="1600" b="1" strike="noStrike" spc="-1" dirty="0">
                <a:solidFill>
                  <a:srgbClr val="000000"/>
                </a:solidFill>
                <a:latin typeface="Arial"/>
                <a:ea typeface="Arial"/>
              </a:rPr>
              <a:t>                  </a:t>
            </a:r>
            <a:r>
              <a:rPr lang="en-IN" sz="1600" b="1" strike="noStrike" spc="-1" dirty="0">
                <a:solidFill>
                  <a:srgbClr val="000000"/>
                </a:solidFill>
                <a:latin typeface="Times New Roman"/>
                <a:ea typeface="Arial"/>
              </a:rPr>
              <a:t>Under the guidance of </a:t>
            </a:r>
            <a:endParaRPr lang="en-IN" sz="1600" b="0" strike="noStrike" spc="-1" dirty="0">
              <a:latin typeface="Arial"/>
            </a:endParaRPr>
          </a:p>
          <a:p>
            <a:pPr>
              <a:lnSpc>
                <a:spcPct val="100000"/>
              </a:lnSpc>
            </a:pPr>
            <a:r>
              <a:rPr lang="en-IN" sz="1600" b="0" strike="noStrike" spc="-1" dirty="0">
                <a:solidFill>
                  <a:srgbClr val="000000"/>
                </a:solidFill>
                <a:latin typeface="Times New Roman"/>
                <a:ea typeface="Arial"/>
              </a:rPr>
              <a:t>                      Dr. Roopa R Kulkarni</a:t>
            </a:r>
          </a:p>
          <a:p>
            <a:pPr>
              <a:lnSpc>
                <a:spcPct val="100000"/>
              </a:lnSpc>
            </a:pPr>
            <a:r>
              <a:rPr lang="en-IN" sz="1600" b="0" strike="noStrike" spc="-1" dirty="0">
                <a:solidFill>
                  <a:srgbClr val="000000"/>
                </a:solidFill>
                <a:latin typeface="Times New Roman"/>
                <a:ea typeface="Arial"/>
              </a:rPr>
              <a:t>              Associate Professor, ECE Department</a:t>
            </a:r>
            <a:endParaRPr lang="en-IN" sz="16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1"/>
          <p:cNvGrpSpPr/>
          <p:nvPr/>
        </p:nvGrpSpPr>
        <p:grpSpPr>
          <a:xfrm>
            <a:off x="0" y="72000"/>
            <a:ext cx="12191760" cy="6785640"/>
            <a:chOff x="0" y="72000"/>
            <a:chExt cx="12191760" cy="6785640"/>
          </a:xfrm>
        </p:grpSpPr>
        <p:pic>
          <p:nvPicPr>
            <p:cNvPr id="55" name="Google Shape;115;p3"/>
            <p:cNvPicPr/>
            <p:nvPr/>
          </p:nvPicPr>
          <p:blipFill>
            <a:blip r:embed="rId2"/>
            <a:stretch/>
          </p:blipFill>
          <p:spPr>
            <a:xfrm>
              <a:off x="11211120" y="72000"/>
              <a:ext cx="830520" cy="809640"/>
            </a:xfrm>
            <a:prstGeom prst="rect">
              <a:avLst/>
            </a:prstGeom>
            <a:ln>
              <a:noFill/>
            </a:ln>
          </p:spPr>
        </p:pic>
        <p:sp>
          <p:nvSpPr>
            <p:cNvPr id="56"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57"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58"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59"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60"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61" name="CustomShape 7"/>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62" name="CustomShape 8"/>
          <p:cNvSpPr/>
          <p:nvPr/>
        </p:nvSpPr>
        <p:spPr>
          <a:xfrm>
            <a:off x="118080" y="1209240"/>
            <a:ext cx="11923560" cy="255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INTRODUCTION</a:t>
            </a:r>
            <a:endParaRPr lang="en-IN" sz="1800" b="0" strike="noStrike" spc="-1">
              <a:latin typeface="Arial"/>
            </a:endParaRPr>
          </a:p>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LITERATURE SURVEY</a:t>
            </a:r>
            <a:endParaRPr lang="en-IN" sz="1800" b="0" strike="noStrike" spc="-1">
              <a:latin typeface="Arial"/>
            </a:endParaRPr>
          </a:p>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PROBLEM STATEMENT</a:t>
            </a:r>
            <a:endParaRPr lang="en-IN" sz="1800" b="0" strike="noStrike" spc="-1">
              <a:latin typeface="Arial"/>
            </a:endParaRPr>
          </a:p>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OBJECTIVES</a:t>
            </a:r>
            <a:endParaRPr lang="en-IN" sz="1800" b="0" strike="noStrike" spc="-1">
              <a:latin typeface="Arial"/>
            </a:endParaRPr>
          </a:p>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METHODOLGY</a:t>
            </a:r>
            <a:endParaRPr lang="en-IN" sz="1800" b="0" strike="noStrike" spc="-1">
              <a:latin typeface="Arial"/>
            </a:endParaRPr>
          </a:p>
          <a:p>
            <a:pPr marL="285840" indent="-285480">
              <a:lnSpc>
                <a:spcPct val="150000"/>
              </a:lnSpc>
              <a:buClr>
                <a:srgbClr val="000000"/>
              </a:buClr>
              <a:buFont typeface="Arial"/>
              <a:buChar char="•"/>
            </a:pPr>
            <a:r>
              <a:rPr lang="en-IN" sz="1800" b="0" strike="noStrike" spc="-1">
                <a:solidFill>
                  <a:srgbClr val="000000"/>
                </a:solidFill>
                <a:latin typeface="Times New Roman"/>
                <a:ea typeface="Calibri"/>
              </a:rPr>
              <a:t>REFERENCE</a:t>
            </a:r>
            <a:endParaRPr lang="en-IN" sz="1800" b="0" strike="noStrike" spc="-1">
              <a:latin typeface="Arial"/>
            </a:endParaRPr>
          </a:p>
        </p:txBody>
      </p:sp>
      <p:sp>
        <p:nvSpPr>
          <p:cNvPr id="63" name="CustomShape 9"/>
          <p:cNvSpPr/>
          <p:nvPr/>
        </p:nvSpPr>
        <p:spPr>
          <a:xfrm>
            <a:off x="1402560" y="30024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a:solidFill>
                  <a:srgbClr val="000000"/>
                </a:solidFill>
                <a:latin typeface="Calibri"/>
                <a:ea typeface="Calibri"/>
              </a:rPr>
              <a:t>                                                        </a:t>
            </a:r>
            <a:r>
              <a:rPr lang="en-IN" sz="3600" b="0" strike="noStrike" spc="-1">
                <a:solidFill>
                  <a:srgbClr val="000000"/>
                </a:solidFill>
                <a:latin typeface="Calibri"/>
                <a:ea typeface="Calibri"/>
              </a:rPr>
              <a:t> </a:t>
            </a:r>
            <a:r>
              <a:rPr lang="en-IN" sz="3600" b="1" strike="noStrike" spc="-1">
                <a:solidFill>
                  <a:srgbClr val="000000"/>
                </a:solidFill>
                <a:latin typeface="Times New Roman"/>
                <a:ea typeface="Calibri"/>
              </a:rPr>
              <a:t>TABLE OF CONTENTS</a:t>
            </a:r>
            <a:endParaRPr lang="en-IN" sz="3600" b="0" strike="noStrike" spc="-1">
              <a:latin typeface="Arial"/>
            </a:endParaRPr>
          </a:p>
        </p:txBody>
      </p:sp>
      <p:pic>
        <p:nvPicPr>
          <p:cNvPr id="64" name="Picture 2"/>
          <p:cNvPicPr/>
          <p:nvPr/>
        </p:nvPicPr>
        <p:blipFill>
          <a:blip r:embed="rId3"/>
          <a:stretch/>
        </p:blipFill>
        <p:spPr>
          <a:xfrm>
            <a:off x="4767840" y="703080"/>
            <a:ext cx="6190920" cy="48384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1"/>
          <p:cNvGrpSpPr/>
          <p:nvPr/>
        </p:nvGrpSpPr>
        <p:grpSpPr>
          <a:xfrm>
            <a:off x="0" y="72000"/>
            <a:ext cx="12191760" cy="6785640"/>
            <a:chOff x="0" y="72000"/>
            <a:chExt cx="12191760" cy="6785640"/>
          </a:xfrm>
        </p:grpSpPr>
        <p:pic>
          <p:nvPicPr>
            <p:cNvPr id="66" name="Google Shape;115;p3"/>
            <p:cNvPicPr/>
            <p:nvPr/>
          </p:nvPicPr>
          <p:blipFill>
            <a:blip r:embed="rId2"/>
            <a:stretch/>
          </p:blipFill>
          <p:spPr>
            <a:xfrm>
              <a:off x="11211120" y="72000"/>
              <a:ext cx="830520" cy="809640"/>
            </a:xfrm>
            <a:prstGeom prst="rect">
              <a:avLst/>
            </a:prstGeom>
            <a:ln>
              <a:noFill/>
            </a:ln>
          </p:spPr>
        </p:pic>
        <p:sp>
          <p:nvSpPr>
            <p:cNvPr id="67"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68"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69"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70"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71"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72" name="CustomShape 7"/>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73" name="CustomShape 8"/>
          <p:cNvSpPr/>
          <p:nvPr/>
        </p:nvSpPr>
        <p:spPr>
          <a:xfrm>
            <a:off x="118080" y="1209240"/>
            <a:ext cx="11923560" cy="5744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50000"/>
              </a:lnSpc>
            </a:pPr>
            <a:endParaRPr lang="en-IN" sz="1800" b="0" strike="noStrike" spc="-1" dirty="0">
              <a:latin typeface="Arial"/>
            </a:endParaRPr>
          </a:p>
          <a:p>
            <a:pPr algn="just">
              <a:lnSpc>
                <a:spcPct val="150000"/>
              </a:lnSpc>
            </a:pPr>
            <a:endParaRPr lang="en-IN" sz="1800" b="0" strike="noStrike" spc="-1" dirty="0">
              <a:latin typeface="Arial"/>
            </a:endParaRPr>
          </a:p>
          <a:p>
            <a:pPr algn="just">
              <a:lnSpc>
                <a:spcPct val="150000"/>
              </a:lnSpc>
            </a:pPr>
            <a:endParaRPr lang="en-IN" sz="1800" b="0" strike="noStrike" spc="-1" dirty="0">
              <a:latin typeface="Arial"/>
            </a:endParaRPr>
          </a:p>
          <a:p>
            <a:pPr marL="285750" indent="-285750" algn="just">
              <a:lnSpc>
                <a:spcPct val="100000"/>
              </a:lnSpc>
              <a:buFont typeface="Wingdings" panose="05000000000000000000" pitchFamily="2" charset="2"/>
              <a:buChar char="Ø"/>
            </a:pPr>
            <a:endParaRPr lang="en-IN" sz="1800" b="0" strike="noStrike" spc="-1" dirty="0">
              <a:latin typeface="Arial"/>
            </a:endParaRPr>
          </a:p>
          <a:p>
            <a:pPr marL="285750" indent="-285750" algn="just">
              <a:lnSpc>
                <a:spcPct val="100000"/>
              </a:lnSpc>
              <a:buFont typeface="Wingdings" panose="05000000000000000000" pitchFamily="2" charset="2"/>
              <a:buChar char="Ø"/>
            </a:pPr>
            <a:endParaRPr lang="en-IN" spc="-1" dirty="0">
              <a:latin typeface="Arial"/>
            </a:endParaRPr>
          </a:p>
          <a:p>
            <a:pPr marL="285750" indent="-285750" algn="just">
              <a:lnSpc>
                <a:spcPct val="100000"/>
              </a:lnSpc>
              <a:buFont typeface="Wingdings" panose="05000000000000000000" pitchFamily="2" charset="2"/>
              <a:buChar char="Ø"/>
            </a:pPr>
            <a:endParaRPr lang="en-IN" sz="1800" b="0" strike="noStrike" spc="-1" dirty="0">
              <a:latin typeface="Arial"/>
            </a:endParaRPr>
          </a:p>
          <a:p>
            <a:pPr>
              <a:lnSpc>
                <a:spcPct val="100000"/>
              </a:lnSpc>
            </a:pPr>
            <a:endParaRPr lang="en-IN" sz="1800" b="0" strike="noStrike" spc="-1" dirty="0">
              <a:latin typeface="Arial"/>
            </a:endParaRPr>
          </a:p>
          <a:p>
            <a:pPr>
              <a:lnSpc>
                <a:spcPct val="100000"/>
              </a:lnSpc>
            </a:pPr>
            <a:endParaRPr lang="en-IN" sz="1800" b="0" strike="noStrike" spc="-1" dirty="0">
              <a:latin typeface="Arial"/>
            </a:endParaRPr>
          </a:p>
        </p:txBody>
      </p:sp>
      <p:sp>
        <p:nvSpPr>
          <p:cNvPr id="74" name="CustomShape 9"/>
          <p:cNvSpPr/>
          <p:nvPr/>
        </p:nvSpPr>
        <p:spPr>
          <a:xfrm>
            <a:off x="1402560" y="30024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dirty="0">
                <a:solidFill>
                  <a:srgbClr val="000000"/>
                </a:solidFill>
                <a:latin typeface="Calibri"/>
                <a:ea typeface="Calibri"/>
              </a:rPr>
              <a:t>                                                                 </a:t>
            </a:r>
            <a:r>
              <a:rPr lang="en-IN" sz="3600" b="1" strike="noStrike" spc="-1" dirty="0">
                <a:solidFill>
                  <a:srgbClr val="000000"/>
                </a:solidFill>
                <a:latin typeface="Times New Roman"/>
                <a:ea typeface="Calibri"/>
              </a:rPr>
              <a:t>INTRODUCTION</a:t>
            </a:r>
            <a:endParaRPr lang="en-IN" sz="3600" b="0" strike="noStrike" spc="-1" dirty="0">
              <a:latin typeface="Arial"/>
            </a:endParaRPr>
          </a:p>
        </p:txBody>
      </p:sp>
      <p:sp>
        <p:nvSpPr>
          <p:cNvPr id="2" name="TextBox 1">
            <a:extLst>
              <a:ext uri="{FF2B5EF4-FFF2-40B4-BE49-F238E27FC236}">
                <a16:creationId xmlns:a16="http://schemas.microsoft.com/office/drawing/2014/main" id="{8BAA7850-4A21-45E8-A6E1-1E70342C6A0C}"/>
              </a:ext>
            </a:extLst>
          </p:cNvPr>
          <p:cNvSpPr txBox="1"/>
          <p:nvPr/>
        </p:nvSpPr>
        <p:spPr>
          <a:xfrm>
            <a:off x="482783" y="1536174"/>
            <a:ext cx="11226194" cy="3785652"/>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 NEW ROMAN"/>
              </a:rPr>
              <a:t>In modern portable electronic devices such as smartphones, tablets, and laptops, </a:t>
            </a:r>
            <a:r>
              <a:rPr lang="en-US" sz="2000" b="1" dirty="0">
                <a:latin typeface="Time NEW ROMAN"/>
              </a:rPr>
              <a:t>power consumption and heat generation</a:t>
            </a:r>
            <a:r>
              <a:rPr lang="en-US" sz="2000" dirty="0">
                <a:latin typeface="Time NEW ROMAN"/>
              </a:rPr>
              <a:t> are two critical challenges. </a:t>
            </a:r>
          </a:p>
          <a:p>
            <a:pPr marL="342900" indent="-342900">
              <a:buFont typeface="Wingdings" panose="05000000000000000000" pitchFamily="2" charset="2"/>
              <a:buChar char="Ø"/>
            </a:pPr>
            <a:r>
              <a:rPr lang="en-US" sz="2000" dirty="0">
                <a:latin typeface="Time NEW ROMAN"/>
              </a:rPr>
              <a:t>The growing demand for high-performance processors, coupled with complex applications and continuous connectivity, results in increased </a:t>
            </a:r>
            <a:r>
              <a:rPr lang="en-US" sz="2000" b="1" dirty="0">
                <a:latin typeface="Time NEW ROMAN"/>
              </a:rPr>
              <a:t>energy usage</a:t>
            </a:r>
            <a:r>
              <a:rPr lang="en-US" sz="2000" dirty="0">
                <a:latin typeface="Time NEW ROMAN"/>
              </a:rPr>
              <a:t>, which directly impacts </a:t>
            </a:r>
            <a:r>
              <a:rPr lang="en-US" sz="2000" b="1" dirty="0">
                <a:latin typeface="Time NEW ROMAN"/>
              </a:rPr>
              <a:t>battery life</a:t>
            </a:r>
            <a:r>
              <a:rPr lang="en-US" sz="2000" dirty="0">
                <a:latin typeface="Time NEW ROMAN"/>
              </a:rPr>
              <a:t> and leads to </a:t>
            </a:r>
            <a:r>
              <a:rPr lang="en-US" sz="2000" b="1" dirty="0">
                <a:latin typeface="Time NEW ROMAN"/>
              </a:rPr>
              <a:t>excessive heating</a:t>
            </a:r>
            <a:r>
              <a:rPr lang="en-US" sz="2000" dirty="0">
                <a:latin typeface="Time NEW ROMAN"/>
              </a:rPr>
              <a:t>. </a:t>
            </a:r>
          </a:p>
          <a:p>
            <a:pPr marL="342900" indent="-342900">
              <a:buFont typeface="Wingdings" panose="05000000000000000000" pitchFamily="2" charset="2"/>
              <a:buChar char="Ø"/>
            </a:pPr>
            <a:r>
              <a:rPr lang="en-US" sz="2000" dirty="0">
                <a:latin typeface="Time NEW ROMAN"/>
              </a:rPr>
              <a:t>These issues not only degrade device performance but also shorten the lifespan of hardware components.</a:t>
            </a:r>
          </a:p>
          <a:p>
            <a:endParaRPr lang="en-US" sz="2000" dirty="0">
              <a:latin typeface="Time NEW ROMAN"/>
            </a:endParaRPr>
          </a:p>
          <a:p>
            <a:pPr marL="342900" indent="-342900">
              <a:buFont typeface="Wingdings" panose="05000000000000000000" pitchFamily="2" charset="2"/>
              <a:buChar char="Ø"/>
            </a:pPr>
            <a:r>
              <a:rPr lang="en-US" sz="2000" dirty="0">
                <a:latin typeface="Time NEW ROMAN"/>
              </a:rPr>
              <a:t>Optimization of processor power consumption is therefore essential to achieve </a:t>
            </a:r>
            <a:r>
              <a:rPr lang="en-US" sz="2000" b="1" dirty="0">
                <a:latin typeface="Time NEW ROMAN"/>
              </a:rPr>
              <a:t>energy-efficient computing</a:t>
            </a:r>
            <a:r>
              <a:rPr lang="en-US" sz="2000" dirty="0">
                <a:latin typeface="Time NEW ROMAN"/>
              </a:rPr>
              <a:t> and </a:t>
            </a:r>
            <a:r>
              <a:rPr lang="en-US" sz="2000" b="1" dirty="0">
                <a:latin typeface="Time NEW ROMAN"/>
              </a:rPr>
              <a:t>thermal stability</a:t>
            </a:r>
            <a:r>
              <a:rPr lang="en-US" sz="2000" dirty="0">
                <a:latin typeface="Time NEW ROMAN"/>
              </a:rPr>
              <a:t>. </a:t>
            </a:r>
          </a:p>
          <a:p>
            <a:pPr marL="342900" indent="-342900">
              <a:buFont typeface="Wingdings" panose="05000000000000000000" pitchFamily="2" charset="2"/>
              <a:buChar char="Ø"/>
            </a:pPr>
            <a:r>
              <a:rPr lang="en-US" sz="2000" dirty="0">
                <a:latin typeface="Time NEW ROMAN"/>
              </a:rPr>
              <a:t>Techniques such as </a:t>
            </a:r>
            <a:r>
              <a:rPr lang="en-US" sz="2000" b="1" dirty="0">
                <a:latin typeface="Time NEW ROMAN"/>
              </a:rPr>
              <a:t>Power</a:t>
            </a:r>
            <a:r>
              <a:rPr lang="en-US" sz="2000" dirty="0">
                <a:latin typeface="Time NEW ROMAN"/>
              </a:rPr>
              <a:t> </a:t>
            </a:r>
            <a:r>
              <a:rPr lang="en-IN" sz="2000" b="1" dirty="0">
                <a:latin typeface="Time NEW ROMAN"/>
              </a:rPr>
              <a:t>analysis</a:t>
            </a:r>
            <a:r>
              <a:rPr lang="en-US" sz="2000" dirty="0">
                <a:latin typeface="Time NEW ROMAN"/>
              </a:rPr>
              <a:t>,</a:t>
            </a:r>
            <a:r>
              <a:rPr lang="en-US" sz="2000" b="1" dirty="0">
                <a:latin typeface="Time NEW ROMAN"/>
              </a:rPr>
              <a:t>DVFSS, Transient response, PSRR </a:t>
            </a:r>
            <a:r>
              <a:rPr lang="en-US" sz="2000" dirty="0">
                <a:latin typeface="Time NEW ROMAN"/>
              </a:rPr>
              <a:t>and </a:t>
            </a:r>
            <a:r>
              <a:rPr lang="en-US" sz="2000" b="1" dirty="0">
                <a:latin typeface="Time NEW ROMAN"/>
              </a:rPr>
              <a:t>low-power circuit design</a:t>
            </a:r>
            <a:r>
              <a:rPr lang="en-US" sz="2000" dirty="0">
                <a:latin typeface="Time NEW ROMAN"/>
              </a:rPr>
              <a:t> play a key role in reducing unnecessary energy usage without compromising performance.</a:t>
            </a:r>
            <a:endParaRPr lang="en-IN" sz="2000" dirty="0">
              <a:latin typeface="Time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Group 1"/>
          <p:cNvGrpSpPr/>
          <p:nvPr/>
        </p:nvGrpSpPr>
        <p:grpSpPr>
          <a:xfrm>
            <a:off x="0" y="72000"/>
            <a:ext cx="12191760" cy="6785640"/>
            <a:chOff x="0" y="72000"/>
            <a:chExt cx="12191760" cy="6785640"/>
          </a:xfrm>
        </p:grpSpPr>
        <p:pic>
          <p:nvPicPr>
            <p:cNvPr id="77" name="Google Shape;115;p3"/>
            <p:cNvPicPr/>
            <p:nvPr/>
          </p:nvPicPr>
          <p:blipFill>
            <a:blip r:embed="rId3"/>
            <a:stretch/>
          </p:blipFill>
          <p:spPr>
            <a:xfrm>
              <a:off x="11211120" y="72000"/>
              <a:ext cx="830520" cy="809640"/>
            </a:xfrm>
            <a:prstGeom prst="rect">
              <a:avLst/>
            </a:prstGeom>
            <a:ln>
              <a:noFill/>
            </a:ln>
          </p:spPr>
        </p:pic>
        <p:sp>
          <p:nvSpPr>
            <p:cNvPr id="78"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79"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80"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81"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83" name="CustomShape 7"/>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84" name="CustomShape 8"/>
          <p:cNvSpPr/>
          <p:nvPr/>
        </p:nvSpPr>
        <p:spPr>
          <a:xfrm>
            <a:off x="3584160" y="153720"/>
            <a:ext cx="49906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IN" sz="3600" b="0" strike="noStrike" spc="-1" dirty="0">
                <a:solidFill>
                  <a:srgbClr val="000000"/>
                </a:solidFill>
                <a:latin typeface="Arial"/>
                <a:ea typeface="Arial"/>
              </a:rPr>
              <a:t>LITERATURE SURVEY</a:t>
            </a:r>
            <a:endParaRPr lang="en-IN" sz="3600" b="0" strike="noStrike" spc="-1" dirty="0">
              <a:latin typeface="Arial"/>
            </a:endParaRPr>
          </a:p>
        </p:txBody>
      </p:sp>
      <p:cxnSp>
        <p:nvCxnSpPr>
          <p:cNvPr id="7" name="Straight Connector 6">
            <a:extLst>
              <a:ext uri="{FF2B5EF4-FFF2-40B4-BE49-F238E27FC236}">
                <a16:creationId xmlns:a16="http://schemas.microsoft.com/office/drawing/2014/main" id="{2CD014FE-D812-4272-A556-33F13E0F6AF4}"/>
              </a:ext>
            </a:extLst>
          </p:cNvPr>
          <p:cNvCxnSpPr/>
          <p:nvPr/>
        </p:nvCxnSpPr>
        <p:spPr>
          <a:xfrm>
            <a:off x="-504825" y="153720"/>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8" name="Table 7">
            <a:extLst>
              <a:ext uri="{FF2B5EF4-FFF2-40B4-BE49-F238E27FC236}">
                <a16:creationId xmlns:a16="http://schemas.microsoft.com/office/drawing/2014/main" id="{12B1FD28-7AA9-7885-1CAC-4C0CF9F00EFE}"/>
              </a:ext>
            </a:extLst>
          </p:cNvPr>
          <p:cNvGraphicFramePr>
            <a:graphicFrameLocks noGrp="1"/>
          </p:cNvGraphicFramePr>
          <p:nvPr>
            <p:extLst>
              <p:ext uri="{D42A27DB-BD31-4B8C-83A1-F6EECF244321}">
                <p14:modId xmlns:p14="http://schemas.microsoft.com/office/powerpoint/2010/main" val="3503187792"/>
              </p:ext>
            </p:extLst>
          </p:nvPr>
        </p:nvGraphicFramePr>
        <p:xfrm>
          <a:off x="944203" y="1026186"/>
          <a:ext cx="10504084" cy="5096219"/>
        </p:xfrm>
        <a:graphic>
          <a:graphicData uri="http://schemas.openxmlformats.org/drawingml/2006/table">
            <a:tbl>
              <a:tblPr firstRow="1" firstCol="1" lastRow="1" lastCol="1" bandRow="1" bandCol="1">
                <a:tableStyleId>{5940675A-B579-460E-94D1-54222C63F5DA}</a:tableStyleId>
              </a:tblPr>
              <a:tblGrid>
                <a:gridCol w="2586251">
                  <a:extLst>
                    <a:ext uri="{9D8B030D-6E8A-4147-A177-3AD203B41FA5}">
                      <a16:colId xmlns:a16="http://schemas.microsoft.com/office/drawing/2014/main" val="3627964541"/>
                    </a:ext>
                  </a:extLst>
                </a:gridCol>
                <a:gridCol w="649659">
                  <a:extLst>
                    <a:ext uri="{9D8B030D-6E8A-4147-A177-3AD203B41FA5}">
                      <a16:colId xmlns:a16="http://schemas.microsoft.com/office/drawing/2014/main" val="878284310"/>
                    </a:ext>
                  </a:extLst>
                </a:gridCol>
                <a:gridCol w="2633879">
                  <a:extLst>
                    <a:ext uri="{9D8B030D-6E8A-4147-A177-3AD203B41FA5}">
                      <a16:colId xmlns:a16="http://schemas.microsoft.com/office/drawing/2014/main" val="1945069249"/>
                    </a:ext>
                  </a:extLst>
                </a:gridCol>
                <a:gridCol w="2553863">
                  <a:extLst>
                    <a:ext uri="{9D8B030D-6E8A-4147-A177-3AD203B41FA5}">
                      <a16:colId xmlns:a16="http://schemas.microsoft.com/office/drawing/2014/main" val="3337492619"/>
                    </a:ext>
                  </a:extLst>
                </a:gridCol>
                <a:gridCol w="2080432">
                  <a:extLst>
                    <a:ext uri="{9D8B030D-6E8A-4147-A177-3AD203B41FA5}">
                      <a16:colId xmlns:a16="http://schemas.microsoft.com/office/drawing/2014/main" val="3608911765"/>
                    </a:ext>
                  </a:extLst>
                </a:gridCol>
              </a:tblGrid>
              <a:tr h="376318">
                <a:tc>
                  <a:txBody>
                    <a:bodyPr/>
                    <a:lstStyle/>
                    <a:p>
                      <a:pPr marL="77470">
                        <a:spcBef>
                          <a:spcPts val="35"/>
                        </a:spcBef>
                        <a:buNone/>
                      </a:pPr>
                      <a:r>
                        <a:rPr lang="en-US" sz="1200">
                          <a:effectLst/>
                        </a:rPr>
                        <a:t> </a:t>
                      </a:r>
                      <a:endParaRPr lang="en-IN" sz="1200">
                        <a:effectLst/>
                      </a:endParaRPr>
                    </a:p>
                    <a:p>
                      <a:pPr marL="225425">
                        <a:buNone/>
                      </a:pPr>
                      <a:r>
                        <a:rPr lang="en-US" sz="1200">
                          <a:effectLst/>
                        </a:rPr>
                        <a:t>Reference</a:t>
                      </a:r>
                      <a:r>
                        <a:rPr lang="en-US" sz="1200" spc="-35">
                          <a:effectLst/>
                        </a:rPr>
                        <a:t> </a:t>
                      </a:r>
                      <a:r>
                        <a:rPr lang="en-US" sz="1200" spc="-10">
                          <a:effectLst/>
                        </a:rPr>
                        <a:t>number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35"/>
                        </a:spcBef>
                        <a:buNone/>
                      </a:pPr>
                      <a:r>
                        <a:rPr lang="en-US" sz="1200">
                          <a:effectLst/>
                        </a:rPr>
                        <a:t> </a:t>
                      </a:r>
                      <a:endParaRPr lang="en-IN" sz="1200">
                        <a:effectLst/>
                      </a:endParaRPr>
                    </a:p>
                    <a:p>
                      <a:pPr marL="28575" marR="1905" algn="ctr">
                        <a:buNone/>
                      </a:pPr>
                      <a:r>
                        <a:rPr lang="en-US" sz="1200" spc="-20">
                          <a:effectLst/>
                        </a:rPr>
                        <a:t>Year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35"/>
                        </a:spcBef>
                        <a:buNone/>
                      </a:pPr>
                      <a:r>
                        <a:rPr lang="en-US" sz="1200">
                          <a:effectLst/>
                        </a:rPr>
                        <a:t> </a:t>
                      </a:r>
                      <a:endParaRPr lang="en-IN" sz="1200">
                        <a:effectLst/>
                      </a:endParaRPr>
                    </a:p>
                    <a:p>
                      <a:pPr marL="485775">
                        <a:buNone/>
                      </a:pPr>
                      <a:r>
                        <a:rPr lang="en-US" sz="1200" spc="-10">
                          <a:effectLst/>
                        </a:rPr>
                        <a:t>Methodology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10"/>
                        </a:spcBef>
                        <a:buNone/>
                      </a:pPr>
                      <a:r>
                        <a:rPr lang="en-US" sz="1200">
                          <a:effectLst/>
                        </a:rPr>
                        <a:t> </a:t>
                      </a:r>
                      <a:endParaRPr lang="en-IN" sz="1200">
                        <a:effectLst/>
                      </a:endParaRPr>
                    </a:p>
                    <a:p>
                      <a:pPr marL="78740">
                        <a:buNone/>
                      </a:pPr>
                      <a:r>
                        <a:rPr lang="en-US" sz="1200" spc="-10">
                          <a:effectLst/>
                        </a:rPr>
                        <a:t>Performance</a:t>
                      </a:r>
                      <a:r>
                        <a:rPr lang="en-US" sz="1200" spc="25">
                          <a:effectLst/>
                        </a:rPr>
                        <a:t> </a:t>
                      </a:r>
                      <a:r>
                        <a:rPr lang="en-US" sz="1200" spc="-10">
                          <a:effectLst/>
                        </a:rPr>
                        <a:t>Parameter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13030">
                        <a:spcBef>
                          <a:spcPts val="1255"/>
                        </a:spcBef>
                        <a:buNone/>
                      </a:pPr>
                      <a:r>
                        <a:rPr lang="en-US" sz="1200" dirty="0">
                          <a:effectLst/>
                        </a:rPr>
                        <a:t>Result</a:t>
                      </a:r>
                      <a:r>
                        <a:rPr lang="en-US" sz="1200" spc="-55" dirty="0">
                          <a:effectLst/>
                        </a:rPr>
                        <a:t> </a:t>
                      </a:r>
                      <a:r>
                        <a:rPr lang="en-US" sz="1200" spc="-10" dirty="0">
                          <a:effectLst/>
                        </a:rPr>
                        <a:t>Achieved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33583352"/>
                  </a:ext>
                </a:extLst>
              </a:tr>
              <a:tr h="1061363">
                <a:tc>
                  <a:txBody>
                    <a:bodyPr/>
                    <a:lstStyle/>
                    <a:p>
                      <a:pPr marL="25400" algn="ctr">
                        <a:spcBef>
                          <a:spcPts val="1205"/>
                        </a:spcBef>
                        <a:buNone/>
                      </a:pPr>
                      <a:r>
                        <a:rPr lang="en-US" sz="1200" spc="-25" dirty="0">
                          <a:effectLst/>
                        </a:rPr>
                        <a:t>[1]</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30"/>
                        </a:spcBef>
                        <a:buNone/>
                      </a:pPr>
                      <a:r>
                        <a:rPr lang="en-US" sz="1200">
                          <a:effectLst/>
                        </a:rPr>
                        <a:t> </a:t>
                      </a:r>
                      <a:endParaRPr lang="en-IN" sz="1200">
                        <a:effectLst/>
                      </a:endParaRPr>
                    </a:p>
                    <a:p>
                      <a:pPr marL="26670" marR="28575" algn="ctr">
                        <a:buNone/>
                      </a:pPr>
                      <a:r>
                        <a:rPr lang="en-US" sz="1200" spc="-20">
                          <a:effectLst/>
                        </a:rPr>
                        <a:t>2010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189230">
                        <a:lnSpc>
                          <a:spcPct val="100000"/>
                        </a:lnSpc>
                        <a:spcBef>
                          <a:spcPts val="10"/>
                        </a:spcBef>
                        <a:buNone/>
                      </a:pPr>
                      <a:r>
                        <a:rPr lang="en-US" sz="1200" dirty="0">
                          <a:effectLst/>
                        </a:rPr>
                        <a:t>Proposed</a:t>
                      </a:r>
                      <a:r>
                        <a:rPr lang="en-US" sz="1200" spc="-45" dirty="0">
                          <a:effectLst/>
                        </a:rPr>
                        <a:t> </a:t>
                      </a:r>
                      <a:r>
                        <a:rPr lang="en-US" sz="1200" dirty="0">
                          <a:effectLst/>
                        </a:rPr>
                        <a:t>improved</a:t>
                      </a:r>
                      <a:r>
                        <a:rPr lang="en-US" sz="1200" spc="-45" dirty="0">
                          <a:effectLst/>
                        </a:rPr>
                        <a:t> </a:t>
                      </a:r>
                      <a:r>
                        <a:rPr lang="en-US" sz="1200" dirty="0">
                          <a:effectLst/>
                        </a:rPr>
                        <a:t>DLDO architectures featuring </a:t>
                      </a:r>
                      <a:r>
                        <a:rPr lang="en-US" sz="1200" spc="-20" dirty="0">
                          <a:effectLst/>
                        </a:rPr>
                        <a:t>enhanced</a:t>
                      </a:r>
                      <a:r>
                        <a:rPr lang="en-US" sz="1200" spc="-40" dirty="0">
                          <a:effectLst/>
                        </a:rPr>
                        <a:t> </a:t>
                      </a:r>
                      <a:r>
                        <a:rPr lang="en-US" sz="1200" spc="-20" dirty="0">
                          <a:effectLst/>
                        </a:rPr>
                        <a:t>digital</a:t>
                      </a:r>
                      <a:r>
                        <a:rPr lang="en-US" sz="1200" spc="-30" dirty="0">
                          <a:effectLst/>
                        </a:rPr>
                        <a:t> </a:t>
                      </a:r>
                      <a:r>
                        <a:rPr lang="en-US" sz="1200" spc="-20" dirty="0">
                          <a:effectLst/>
                        </a:rPr>
                        <a:t>control</a:t>
                      </a:r>
                      <a:r>
                        <a:rPr lang="en-US" sz="1200" spc="-45" dirty="0">
                          <a:effectLst/>
                        </a:rPr>
                        <a:t> </a:t>
                      </a:r>
                      <a:r>
                        <a:rPr lang="en-US" sz="1200" spc="-20" dirty="0">
                          <a:effectLst/>
                        </a:rPr>
                        <a:t>and </a:t>
                      </a:r>
                      <a:r>
                        <a:rPr lang="en-US" sz="1200" dirty="0">
                          <a:effectLst/>
                        </a:rPr>
                        <a:t>loop stability</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indent="-3175">
                        <a:lnSpc>
                          <a:spcPct val="111000"/>
                        </a:lnSpc>
                        <a:spcBef>
                          <a:spcPts val="165"/>
                        </a:spcBef>
                        <a:buNone/>
                      </a:pPr>
                      <a:r>
                        <a:rPr lang="en-US" sz="1200" dirty="0">
                          <a:effectLst/>
                        </a:rPr>
                        <a:t>Output</a:t>
                      </a:r>
                      <a:r>
                        <a:rPr lang="en-US" sz="1200" spc="-60" dirty="0">
                          <a:effectLst/>
                        </a:rPr>
                        <a:t> </a:t>
                      </a:r>
                      <a:r>
                        <a:rPr lang="en-US" sz="1200" dirty="0">
                          <a:effectLst/>
                        </a:rPr>
                        <a:t>Voltage</a:t>
                      </a:r>
                      <a:r>
                        <a:rPr lang="en-US" sz="1200" spc="-55" dirty="0">
                          <a:effectLst/>
                        </a:rPr>
                        <a:t> </a:t>
                      </a:r>
                      <a:r>
                        <a:rPr lang="en-US" sz="1200" dirty="0">
                          <a:effectLst/>
                        </a:rPr>
                        <a:t>Ripple,</a:t>
                      </a:r>
                      <a:r>
                        <a:rPr lang="en-US" sz="1200" spc="-55" dirty="0">
                          <a:effectLst/>
                        </a:rPr>
                        <a:t> </a:t>
                      </a:r>
                      <a:r>
                        <a:rPr lang="en-US" sz="1200" dirty="0">
                          <a:effectLst/>
                        </a:rPr>
                        <a:t>Load Regulation, Area Overhead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a:spcBef>
                          <a:spcPts val="10"/>
                        </a:spcBef>
                        <a:buNone/>
                      </a:pPr>
                      <a:r>
                        <a:rPr lang="en-US" sz="1200" spc="-20" dirty="0">
                          <a:effectLst/>
                        </a:rPr>
                        <a:t>Transient</a:t>
                      </a:r>
                      <a:r>
                        <a:rPr lang="en-US" sz="1200" spc="-80" dirty="0">
                          <a:effectLst/>
                        </a:rPr>
                        <a:t> </a:t>
                      </a:r>
                      <a:r>
                        <a:rPr lang="en-US" sz="1200" spc="-20" dirty="0">
                          <a:effectLst/>
                        </a:rPr>
                        <a:t>response </a:t>
                      </a:r>
                      <a:r>
                        <a:rPr lang="en-US" sz="1200" dirty="0">
                          <a:effectLst/>
                        </a:rPr>
                        <a:t>improved by</a:t>
                      </a:r>
                      <a:endParaRPr lang="en-IN" sz="1200" dirty="0">
                        <a:effectLst/>
                      </a:endParaRPr>
                    </a:p>
                    <a:p>
                      <a:pPr marL="7620">
                        <a:spcBef>
                          <a:spcPts val="10"/>
                        </a:spcBef>
                        <a:buNone/>
                      </a:pPr>
                      <a:r>
                        <a:rPr lang="en-US" sz="1200" dirty="0">
                          <a:effectLst/>
                        </a:rPr>
                        <a:t>&gt;30%, output voltage </a:t>
                      </a:r>
                      <a:r>
                        <a:rPr lang="en-US" sz="1200" spc="-20" dirty="0">
                          <a:effectLst/>
                        </a:rPr>
                        <a:t>ripple</a:t>
                      </a:r>
                      <a:r>
                        <a:rPr lang="en-US" sz="1200" spc="-45" dirty="0">
                          <a:effectLst/>
                        </a:rPr>
                        <a:t> </a:t>
                      </a:r>
                      <a:r>
                        <a:rPr lang="en-US" sz="1200" spc="-20" dirty="0">
                          <a:effectLst/>
                        </a:rPr>
                        <a:t>reduced</a:t>
                      </a:r>
                      <a:r>
                        <a:rPr lang="en-US" sz="1200" spc="-50" dirty="0">
                          <a:effectLst/>
                        </a:rPr>
                        <a:t> </a:t>
                      </a:r>
                      <a:r>
                        <a:rPr lang="en-US" sz="1200" spc="-20" dirty="0">
                          <a:effectLst/>
                        </a:rPr>
                        <a:t>by</a:t>
                      </a:r>
                      <a:r>
                        <a:rPr lang="en-US" sz="1200" spc="-40" dirty="0">
                          <a:effectLst/>
                        </a:rPr>
                        <a:t> </a:t>
                      </a:r>
                      <a:r>
                        <a:rPr lang="en-US" sz="1200" spc="-20" dirty="0">
                          <a:effectLst/>
                        </a:rPr>
                        <a:t>~25%, </a:t>
                      </a:r>
                      <a:r>
                        <a:rPr lang="en-US" sz="1200" dirty="0">
                          <a:effectLst/>
                        </a:rPr>
                        <a:t>efficiency improved by</a:t>
                      </a:r>
                      <a:endParaRPr lang="en-IN" sz="1200" dirty="0">
                        <a:effectLst/>
                      </a:endParaRPr>
                    </a:p>
                    <a:p>
                      <a:pPr marL="7620">
                        <a:lnSpc>
                          <a:spcPts val="1045"/>
                        </a:lnSpc>
                        <a:buNone/>
                      </a:pPr>
                      <a:r>
                        <a:rPr lang="en-US" sz="1200" spc="-20" dirty="0">
                          <a:effectLst/>
                        </a:rPr>
                        <a:t>~10%</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26209625"/>
                  </a:ext>
                </a:extLst>
              </a:tr>
              <a:tr h="702306">
                <a:tc>
                  <a:txBody>
                    <a:bodyPr/>
                    <a:lstStyle/>
                    <a:p>
                      <a:pPr marL="25400" algn="ctr">
                        <a:spcBef>
                          <a:spcPts val="1190"/>
                        </a:spcBef>
                        <a:buNone/>
                      </a:pPr>
                      <a:r>
                        <a:rPr lang="en-US" sz="1200" spc="-25">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75"/>
                        </a:spcBef>
                        <a:buNone/>
                      </a:pPr>
                      <a:r>
                        <a:rPr lang="en-US" sz="1200">
                          <a:effectLst/>
                        </a:rPr>
                        <a:t> </a:t>
                      </a:r>
                      <a:endParaRPr lang="en-IN" sz="1200">
                        <a:effectLst/>
                      </a:endParaRPr>
                    </a:p>
                    <a:p>
                      <a:pPr marL="26670" marR="28575" algn="ctr">
                        <a:buNone/>
                      </a:pPr>
                      <a:r>
                        <a:rPr lang="en-US" sz="1200" spc="-20">
                          <a:effectLst/>
                        </a:rPr>
                        <a:t>2015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189230">
                        <a:lnSpc>
                          <a:spcPct val="102000"/>
                        </a:lnSpc>
                        <a:spcBef>
                          <a:spcPts val="50"/>
                        </a:spcBef>
                        <a:buNone/>
                      </a:pPr>
                      <a:r>
                        <a:rPr lang="en-US" sz="1200">
                          <a:effectLst/>
                        </a:rPr>
                        <a:t>Implemented ultra-low- voltage DLDO using digital </a:t>
                      </a:r>
                      <a:r>
                        <a:rPr lang="en-US" sz="1200" spc="-10">
                          <a:effectLst/>
                        </a:rPr>
                        <a:t>control</a:t>
                      </a:r>
                      <a:r>
                        <a:rPr lang="en-US" sz="1200" spc="-75">
                          <a:effectLst/>
                        </a:rPr>
                        <a:t> </a:t>
                      </a:r>
                      <a:r>
                        <a:rPr lang="en-US" sz="1200" spc="-10">
                          <a:effectLst/>
                        </a:rPr>
                        <a:t>logic</a:t>
                      </a:r>
                      <a:r>
                        <a:rPr lang="en-US" sz="1200" spc="-60">
                          <a:effectLst/>
                        </a:rPr>
                        <a:t> </a:t>
                      </a:r>
                      <a:r>
                        <a:rPr lang="en-US" sz="1200" spc="-10">
                          <a:effectLst/>
                        </a:rPr>
                        <a:t>in</a:t>
                      </a:r>
                      <a:r>
                        <a:rPr lang="en-US" sz="1200" spc="-65">
                          <a:effectLst/>
                        </a:rPr>
                        <a:t> </a:t>
                      </a:r>
                      <a:r>
                        <a:rPr lang="en-US" sz="1200" spc="-10">
                          <a:effectLst/>
                        </a:rPr>
                        <a:t>65-nm</a:t>
                      </a:r>
                      <a:r>
                        <a:rPr lang="en-US" sz="1200" spc="-55">
                          <a:effectLst/>
                        </a:rPr>
                        <a:t> </a:t>
                      </a:r>
                      <a:r>
                        <a:rPr lang="en-US" sz="1200" spc="-10">
                          <a:effectLst/>
                        </a:rPr>
                        <a:t>CMOS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213360" algn="just">
                        <a:spcBef>
                          <a:spcPts val="10"/>
                        </a:spcBef>
                        <a:buNone/>
                      </a:pPr>
                      <a:r>
                        <a:rPr lang="en-US" sz="1200">
                          <a:effectLst/>
                        </a:rPr>
                        <a:t>Line Regulation,</a:t>
                      </a:r>
                      <a:r>
                        <a:rPr lang="en-US" sz="1200" spc="-5">
                          <a:effectLst/>
                        </a:rPr>
                        <a:t> </a:t>
                      </a:r>
                      <a:r>
                        <a:rPr lang="en-US" sz="1200">
                          <a:effectLst/>
                        </a:rPr>
                        <a:t>Static Power </a:t>
                      </a:r>
                      <a:r>
                        <a:rPr lang="en-US" sz="1200" spc="-10">
                          <a:effectLst/>
                        </a:rPr>
                        <a:t>Consumption, Dynamic</a:t>
                      </a:r>
                      <a:r>
                        <a:rPr lang="en-US" sz="1200" spc="-25">
                          <a:effectLst/>
                        </a:rPr>
                        <a:t> </a:t>
                      </a:r>
                      <a:r>
                        <a:rPr lang="en-US" sz="1200" spc="-10">
                          <a:effectLst/>
                        </a:rPr>
                        <a:t>Power </a:t>
                      </a:r>
                      <a:r>
                        <a:rPr lang="en-US" sz="1200">
                          <a:effectLst/>
                        </a:rPr>
                        <a:t>Consumption, Leakage</a:t>
                      </a:r>
                      <a:r>
                        <a:rPr lang="en-US" sz="1200" spc="-25">
                          <a:effectLst/>
                        </a:rPr>
                        <a:t> </a:t>
                      </a:r>
                      <a:r>
                        <a:rPr lang="en-US" sz="1200">
                          <a:effectLst/>
                        </a:rPr>
                        <a:t>Power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0" marR="294640">
                        <a:lnSpc>
                          <a:spcPct val="100000"/>
                        </a:lnSpc>
                        <a:spcBef>
                          <a:spcPts val="50"/>
                        </a:spcBef>
                        <a:buNone/>
                      </a:pPr>
                      <a:r>
                        <a:rPr lang="en-US" sz="1200" dirty="0">
                          <a:effectLst/>
                        </a:rPr>
                        <a:t>Input</a:t>
                      </a:r>
                      <a:r>
                        <a:rPr lang="en-US" sz="1200" spc="-5" dirty="0">
                          <a:effectLst/>
                        </a:rPr>
                        <a:t> </a:t>
                      </a:r>
                      <a:r>
                        <a:rPr lang="en-US" sz="1200" dirty="0">
                          <a:effectLst/>
                        </a:rPr>
                        <a:t>voltage: 0.5 V, current </a:t>
                      </a:r>
                      <a:r>
                        <a:rPr lang="en-US" sz="1200" spc="-20" dirty="0">
                          <a:effectLst/>
                        </a:rPr>
                        <a:t>efficiency:</a:t>
                      </a:r>
                      <a:r>
                        <a:rPr lang="en-US" sz="1200" spc="-75" dirty="0">
                          <a:effectLst/>
                        </a:rPr>
                        <a:t> </a:t>
                      </a:r>
                      <a:r>
                        <a:rPr lang="en-US" sz="1200" spc="-20" dirty="0">
                          <a:effectLst/>
                        </a:rPr>
                        <a:t>98.7%, </a:t>
                      </a:r>
                      <a:r>
                        <a:rPr lang="en-US" sz="1200" spc="-10" dirty="0">
                          <a:effectLst/>
                        </a:rPr>
                        <a:t>quiescent</a:t>
                      </a:r>
                      <a:endParaRPr lang="en-IN" sz="1200" dirty="0">
                        <a:effectLst/>
                      </a:endParaRPr>
                    </a:p>
                    <a:p>
                      <a:pPr marL="7620">
                        <a:lnSpc>
                          <a:spcPts val="1045"/>
                        </a:lnSpc>
                        <a:buNone/>
                      </a:pPr>
                      <a:r>
                        <a:rPr lang="en-US" sz="1200" dirty="0">
                          <a:effectLst/>
                        </a:rPr>
                        <a:t>current:</a:t>
                      </a:r>
                      <a:r>
                        <a:rPr lang="en-US" sz="1200" spc="-45" dirty="0">
                          <a:effectLst/>
                        </a:rPr>
                        <a:t> </a:t>
                      </a:r>
                      <a:r>
                        <a:rPr lang="en-US" sz="1200" dirty="0">
                          <a:effectLst/>
                        </a:rPr>
                        <a:t>2.7</a:t>
                      </a:r>
                      <a:r>
                        <a:rPr lang="en-US" sz="1200" spc="-25" dirty="0">
                          <a:effectLst/>
                        </a:rPr>
                        <a:t> µA</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017001097"/>
                  </a:ext>
                </a:extLst>
              </a:tr>
              <a:tr h="827239">
                <a:tc>
                  <a:txBody>
                    <a:bodyPr/>
                    <a:lstStyle/>
                    <a:p>
                      <a:pPr marL="25400" algn="ctr">
                        <a:spcBef>
                          <a:spcPts val="1155"/>
                        </a:spcBef>
                        <a:buNone/>
                      </a:pPr>
                      <a:r>
                        <a:rPr lang="en-US" sz="1200" spc="-25">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15"/>
                        </a:spcBef>
                        <a:buNone/>
                      </a:pPr>
                      <a:r>
                        <a:rPr lang="en-US" sz="1200">
                          <a:effectLst/>
                        </a:rPr>
                        <a:t> </a:t>
                      </a:r>
                      <a:endParaRPr lang="en-IN" sz="1200">
                        <a:effectLst/>
                      </a:endParaRPr>
                    </a:p>
                    <a:p>
                      <a:pPr marL="26670" marR="28575" algn="ctr">
                        <a:buNone/>
                      </a:pPr>
                      <a:r>
                        <a:rPr lang="en-US" sz="1200" spc="-20">
                          <a:effectLst/>
                        </a:rPr>
                        <a:t>2016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323215">
                        <a:spcBef>
                          <a:spcPts val="10"/>
                        </a:spcBef>
                        <a:buNone/>
                      </a:pPr>
                      <a:r>
                        <a:rPr lang="en-US" sz="1200">
                          <a:effectLst/>
                        </a:rPr>
                        <a:t>Designed asynchronous </a:t>
                      </a:r>
                      <a:r>
                        <a:rPr lang="en-US" sz="1200" spc="-20">
                          <a:effectLst/>
                        </a:rPr>
                        <a:t>DLDO</a:t>
                      </a:r>
                      <a:r>
                        <a:rPr lang="en-US" sz="1200" spc="-80">
                          <a:effectLst/>
                        </a:rPr>
                        <a:t> </a:t>
                      </a:r>
                      <a:r>
                        <a:rPr lang="en-US" sz="1200" spc="-20">
                          <a:effectLst/>
                        </a:rPr>
                        <a:t>with</a:t>
                      </a:r>
                      <a:r>
                        <a:rPr lang="en-US" sz="1200" spc="-55">
                          <a:effectLst/>
                        </a:rPr>
                        <a:t> </a:t>
                      </a:r>
                      <a:r>
                        <a:rPr lang="en-US" sz="1200" spc="-20">
                          <a:effectLst/>
                        </a:rPr>
                        <a:t>PLL-based</a:t>
                      </a:r>
                      <a:r>
                        <a:rPr lang="en-US" sz="1200" spc="-65">
                          <a:effectLst/>
                        </a:rPr>
                        <a:t> </a:t>
                      </a:r>
                      <a:r>
                        <a:rPr lang="en-US" sz="1200" spc="-20">
                          <a:effectLst/>
                        </a:rPr>
                        <a:t>fast </a:t>
                      </a:r>
                      <a:r>
                        <a:rPr lang="en-US" sz="1200">
                          <a:effectLst/>
                        </a:rPr>
                        <a:t>dynamic voltage scaling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341630" algn="just">
                        <a:spcBef>
                          <a:spcPts val="10"/>
                        </a:spcBef>
                        <a:buNone/>
                      </a:pPr>
                      <a:r>
                        <a:rPr lang="en-US" sz="1200">
                          <a:effectLst/>
                        </a:rPr>
                        <a:t>Dynamic</a:t>
                      </a:r>
                      <a:r>
                        <a:rPr lang="en-US" sz="1200" spc="-60">
                          <a:effectLst/>
                        </a:rPr>
                        <a:t> </a:t>
                      </a:r>
                      <a:r>
                        <a:rPr lang="en-US" sz="1200">
                          <a:effectLst/>
                        </a:rPr>
                        <a:t>Power</a:t>
                      </a:r>
                      <a:r>
                        <a:rPr lang="en-US" sz="1200" spc="-55">
                          <a:effectLst/>
                        </a:rPr>
                        <a:t> </a:t>
                      </a:r>
                      <a:r>
                        <a:rPr lang="en-US" sz="1200">
                          <a:effectLst/>
                        </a:rPr>
                        <a:t>Reduction, Leakage Power Reduction, Thermal</a:t>
                      </a:r>
                      <a:r>
                        <a:rPr lang="en-US" sz="1200" spc="-35">
                          <a:effectLst/>
                        </a:rPr>
                        <a:t> </a:t>
                      </a:r>
                      <a:r>
                        <a:rPr lang="en-US" sz="1200">
                          <a:effectLst/>
                        </a:rPr>
                        <a:t>Power</a:t>
                      </a:r>
                      <a:r>
                        <a:rPr lang="en-US" sz="1200" spc="-25">
                          <a:effectLst/>
                        </a:rPr>
                        <a:t> </a:t>
                      </a:r>
                      <a:r>
                        <a:rPr lang="en-US" sz="1200">
                          <a:effectLst/>
                        </a:rPr>
                        <a:t>Dissipation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a:lnSpc>
                          <a:spcPts val="1140"/>
                        </a:lnSpc>
                        <a:buNone/>
                      </a:pPr>
                      <a:r>
                        <a:rPr lang="en-US" sz="1200" dirty="0">
                          <a:effectLst/>
                        </a:rPr>
                        <a:t>Voltage</a:t>
                      </a:r>
                      <a:r>
                        <a:rPr lang="en-US" sz="1200" spc="70" dirty="0">
                          <a:effectLst/>
                        </a:rPr>
                        <a:t> </a:t>
                      </a:r>
                      <a:r>
                        <a:rPr lang="en-US" sz="1200" dirty="0">
                          <a:effectLst/>
                        </a:rPr>
                        <a:t>droop</a:t>
                      </a:r>
                      <a:r>
                        <a:rPr lang="en-US" sz="1200" spc="90" dirty="0">
                          <a:effectLst/>
                        </a:rPr>
                        <a:t> </a:t>
                      </a:r>
                      <a:r>
                        <a:rPr lang="en-US" sz="1200" dirty="0">
                          <a:effectLst/>
                        </a:rPr>
                        <a:t>reduced</a:t>
                      </a:r>
                      <a:r>
                        <a:rPr lang="en-US" sz="1200" spc="90" dirty="0">
                          <a:effectLst/>
                        </a:rPr>
                        <a:t> </a:t>
                      </a:r>
                      <a:r>
                        <a:rPr lang="en-US" sz="1200" spc="-25" dirty="0">
                          <a:effectLst/>
                        </a:rPr>
                        <a:t>by</a:t>
                      </a:r>
                      <a:endParaRPr lang="en-IN" sz="1200" dirty="0">
                        <a:effectLst/>
                      </a:endParaRPr>
                    </a:p>
                    <a:p>
                      <a:pPr marL="7620">
                        <a:lnSpc>
                          <a:spcPct val="95000"/>
                        </a:lnSpc>
                        <a:spcBef>
                          <a:spcPts val="25"/>
                        </a:spcBef>
                        <a:buNone/>
                      </a:pPr>
                      <a:r>
                        <a:rPr lang="en-US" sz="1200" dirty="0">
                          <a:effectLst/>
                        </a:rPr>
                        <a:t>~40</a:t>
                      </a:r>
                      <a:r>
                        <a:rPr lang="en-US" sz="1200" spc="200" dirty="0">
                          <a:effectLst/>
                        </a:rPr>
                        <a:t> </a:t>
                      </a:r>
                      <a:r>
                        <a:rPr lang="en-US" sz="1200" dirty="0">
                          <a:effectLst/>
                        </a:rPr>
                        <a:t>mV,</a:t>
                      </a:r>
                      <a:r>
                        <a:rPr lang="en-US" sz="1200" spc="200" dirty="0">
                          <a:effectLst/>
                        </a:rPr>
                        <a:t> </a:t>
                      </a:r>
                      <a:r>
                        <a:rPr lang="en-US" sz="1200" dirty="0">
                          <a:effectLst/>
                        </a:rPr>
                        <a:t>settling</a:t>
                      </a:r>
                      <a:r>
                        <a:rPr lang="en-US" sz="1200" spc="200" dirty="0">
                          <a:effectLst/>
                        </a:rPr>
                        <a:t> </a:t>
                      </a:r>
                      <a:r>
                        <a:rPr lang="en-US" sz="1200" dirty="0">
                          <a:effectLst/>
                        </a:rPr>
                        <a:t>time</a:t>
                      </a:r>
                      <a:r>
                        <a:rPr lang="en-US" sz="1200" spc="200" dirty="0">
                          <a:effectLst/>
                        </a:rPr>
                        <a:t> </a:t>
                      </a:r>
                      <a:r>
                        <a:rPr lang="en-US" sz="1200" dirty="0">
                          <a:effectLst/>
                        </a:rPr>
                        <a:t>&lt; 100</a:t>
                      </a:r>
                      <a:r>
                        <a:rPr lang="en-US" sz="1200" spc="225" dirty="0">
                          <a:effectLst/>
                        </a:rPr>
                        <a:t> </a:t>
                      </a:r>
                      <a:r>
                        <a:rPr lang="en-US" sz="1200" dirty="0">
                          <a:effectLst/>
                        </a:rPr>
                        <a:t>ns,</a:t>
                      </a:r>
                      <a:r>
                        <a:rPr lang="en-US" sz="1200" spc="230" dirty="0">
                          <a:effectLst/>
                        </a:rPr>
                        <a:t> </a:t>
                      </a:r>
                      <a:r>
                        <a:rPr lang="en-US" sz="1200" dirty="0">
                          <a:effectLst/>
                        </a:rPr>
                        <a:t>quiescent</a:t>
                      </a:r>
                      <a:r>
                        <a:rPr lang="en-US" sz="1200" spc="215" dirty="0">
                          <a:effectLst/>
                        </a:rPr>
                        <a:t> </a:t>
                      </a:r>
                      <a:r>
                        <a:rPr lang="en-US" sz="1200" spc="-10" dirty="0">
                          <a:effectLst/>
                        </a:rPr>
                        <a:t>current</a:t>
                      </a:r>
                      <a:endParaRPr lang="en-IN" sz="1200" dirty="0">
                        <a:effectLst/>
                      </a:endParaRPr>
                    </a:p>
                    <a:p>
                      <a:pPr marL="7620">
                        <a:lnSpc>
                          <a:spcPts val="1100"/>
                        </a:lnSpc>
                        <a:buNone/>
                      </a:pPr>
                      <a:r>
                        <a:rPr lang="en-US" sz="1200" dirty="0">
                          <a:effectLst/>
                        </a:rPr>
                        <a:t>&lt;</a:t>
                      </a:r>
                      <a:r>
                        <a:rPr lang="en-US" sz="1200" spc="-35" dirty="0">
                          <a:effectLst/>
                        </a:rPr>
                        <a:t> </a:t>
                      </a:r>
                      <a:r>
                        <a:rPr lang="en-US" sz="1200" dirty="0">
                          <a:effectLst/>
                        </a:rPr>
                        <a:t>5</a:t>
                      </a:r>
                      <a:r>
                        <a:rPr lang="en-US" sz="1200" spc="-5" dirty="0">
                          <a:effectLst/>
                        </a:rPr>
                        <a:t> </a:t>
                      </a:r>
                      <a:r>
                        <a:rPr lang="en-US" sz="1200" spc="-25" dirty="0">
                          <a:effectLst/>
                        </a:rPr>
                        <a:t>µA</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56877647"/>
                  </a:ext>
                </a:extLst>
              </a:tr>
              <a:tr h="650685">
                <a:tc>
                  <a:txBody>
                    <a:bodyPr/>
                    <a:lstStyle/>
                    <a:p>
                      <a:pPr marL="25400" algn="ctr">
                        <a:spcBef>
                          <a:spcPts val="1145"/>
                        </a:spcBef>
                        <a:buNone/>
                      </a:pPr>
                      <a:r>
                        <a:rPr lang="en-US" sz="1200" spc="-25">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50"/>
                        </a:spcBef>
                        <a:buNone/>
                      </a:pPr>
                      <a:r>
                        <a:rPr lang="en-US" sz="1200">
                          <a:effectLst/>
                        </a:rPr>
                        <a:t> </a:t>
                      </a:r>
                      <a:endParaRPr lang="en-IN" sz="1200">
                        <a:effectLst/>
                      </a:endParaRPr>
                    </a:p>
                    <a:p>
                      <a:pPr marL="26670" marR="28575" algn="ctr">
                        <a:buNone/>
                      </a:pPr>
                      <a:r>
                        <a:rPr lang="en-US" sz="1200" spc="-20">
                          <a:effectLst/>
                        </a:rPr>
                        <a:t>2016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278765">
                        <a:spcBef>
                          <a:spcPts val="25"/>
                        </a:spcBef>
                        <a:buNone/>
                      </a:pPr>
                      <a:r>
                        <a:rPr lang="en-US" sz="1200">
                          <a:effectLst/>
                        </a:rPr>
                        <a:t>Applied voltage scaling, </a:t>
                      </a:r>
                      <a:r>
                        <a:rPr lang="en-US" sz="1200" spc="-20">
                          <a:effectLst/>
                        </a:rPr>
                        <a:t>MTCMOS,</a:t>
                      </a:r>
                      <a:r>
                        <a:rPr lang="en-US" sz="1200" spc="-55">
                          <a:effectLst/>
                        </a:rPr>
                        <a:t> </a:t>
                      </a:r>
                      <a:r>
                        <a:rPr lang="en-US" sz="1200" spc="-20">
                          <a:effectLst/>
                        </a:rPr>
                        <a:t>transistor</a:t>
                      </a:r>
                      <a:r>
                        <a:rPr lang="en-US" sz="1200" spc="-40">
                          <a:effectLst/>
                        </a:rPr>
                        <a:t> </a:t>
                      </a:r>
                      <a:r>
                        <a:rPr lang="en-US" sz="1200" spc="-20">
                          <a:effectLst/>
                        </a:rPr>
                        <a:t>sizing, </a:t>
                      </a:r>
                      <a:r>
                        <a:rPr lang="en-US" sz="1200">
                          <a:effectLst/>
                        </a:rPr>
                        <a:t>and leakage control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85725" algn="just">
                        <a:lnSpc>
                          <a:spcPct val="102000"/>
                        </a:lnSpc>
                        <a:spcBef>
                          <a:spcPts val="80"/>
                        </a:spcBef>
                        <a:buNone/>
                      </a:pPr>
                      <a:r>
                        <a:rPr lang="en-US" sz="1200">
                          <a:effectLst/>
                        </a:rPr>
                        <a:t>Current</a:t>
                      </a:r>
                      <a:r>
                        <a:rPr lang="en-US" sz="1200" spc="-60">
                          <a:effectLst/>
                        </a:rPr>
                        <a:t> </a:t>
                      </a:r>
                      <a:r>
                        <a:rPr lang="en-US" sz="1200">
                          <a:effectLst/>
                        </a:rPr>
                        <a:t>Efficiency</a:t>
                      </a:r>
                      <a:r>
                        <a:rPr lang="en-US" sz="1200" spc="-55">
                          <a:effectLst/>
                        </a:rPr>
                        <a:t> </a:t>
                      </a:r>
                      <a:r>
                        <a:rPr lang="en-US" sz="1200">
                          <a:effectLst/>
                        </a:rPr>
                        <a:t>(%),Quiescent Current (Iq), Transient Response Time, Power Dissipation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0">
                        <a:spcBef>
                          <a:spcPts val="25"/>
                        </a:spcBef>
                        <a:buNone/>
                      </a:pPr>
                      <a:r>
                        <a:rPr lang="en-US" sz="1200" spc="-20" dirty="0">
                          <a:effectLst/>
                        </a:rPr>
                        <a:t>Power</a:t>
                      </a:r>
                      <a:r>
                        <a:rPr lang="en-US" sz="1200" spc="-70" dirty="0">
                          <a:effectLst/>
                        </a:rPr>
                        <a:t> </a:t>
                      </a:r>
                      <a:r>
                        <a:rPr lang="en-US" sz="1200" spc="-20" dirty="0">
                          <a:effectLst/>
                        </a:rPr>
                        <a:t>consumption </a:t>
                      </a:r>
                      <a:r>
                        <a:rPr lang="en-US" sz="1200" dirty="0">
                          <a:effectLst/>
                        </a:rPr>
                        <a:t>reduced by</a:t>
                      </a:r>
                      <a:endParaRPr lang="en-IN" sz="1200" dirty="0">
                        <a:effectLst/>
                      </a:endParaRPr>
                    </a:p>
                    <a:p>
                      <a:pPr marL="76200">
                        <a:lnSpc>
                          <a:spcPts val="1130"/>
                        </a:lnSpc>
                        <a:buNone/>
                      </a:pPr>
                      <a:r>
                        <a:rPr lang="en-US" sz="1200" spc="-30" dirty="0">
                          <a:effectLst/>
                        </a:rPr>
                        <a:t>30–50%,</a:t>
                      </a:r>
                      <a:r>
                        <a:rPr lang="en-US" sz="1200" spc="-5" dirty="0">
                          <a:effectLst/>
                        </a:rPr>
                        <a:t> </a:t>
                      </a:r>
                      <a:r>
                        <a:rPr lang="en-US" sz="1200" spc="-30" dirty="0">
                          <a:effectLst/>
                        </a:rPr>
                        <a:t>leakage</a:t>
                      </a:r>
                      <a:r>
                        <a:rPr lang="en-US" sz="1200" spc="-20" dirty="0">
                          <a:effectLst/>
                        </a:rPr>
                        <a:t> </a:t>
                      </a:r>
                      <a:r>
                        <a:rPr lang="en-US" sz="1200" spc="-30" dirty="0">
                          <a:effectLst/>
                        </a:rPr>
                        <a:t>power</a:t>
                      </a:r>
                      <a:endParaRPr lang="en-IN" sz="1200" dirty="0">
                        <a:effectLst/>
                      </a:endParaRPr>
                    </a:p>
                    <a:p>
                      <a:pPr marL="7620">
                        <a:lnSpc>
                          <a:spcPts val="1075"/>
                        </a:lnSpc>
                        <a:buNone/>
                      </a:pPr>
                      <a:r>
                        <a:rPr lang="en-US" sz="1200" dirty="0">
                          <a:effectLst/>
                        </a:rPr>
                        <a:t>reduced</a:t>
                      </a:r>
                      <a:r>
                        <a:rPr lang="en-US" sz="1200" spc="-20" dirty="0">
                          <a:effectLst/>
                        </a:rPr>
                        <a:t> </a:t>
                      </a:r>
                      <a:r>
                        <a:rPr lang="en-US" sz="1200" dirty="0">
                          <a:effectLst/>
                        </a:rPr>
                        <a:t>by</a:t>
                      </a:r>
                      <a:r>
                        <a:rPr lang="en-US" sz="1200" spc="-5" dirty="0">
                          <a:effectLst/>
                        </a:rPr>
                        <a:t> </a:t>
                      </a:r>
                      <a:r>
                        <a:rPr lang="en-US" sz="1200" spc="-20" dirty="0">
                          <a:effectLst/>
                        </a:rPr>
                        <a:t>~40%</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42421160"/>
                  </a:ext>
                </a:extLst>
              </a:tr>
              <a:tr h="513551">
                <a:tc>
                  <a:txBody>
                    <a:bodyPr/>
                    <a:lstStyle/>
                    <a:p>
                      <a:pPr marL="25400" algn="ctr">
                        <a:spcBef>
                          <a:spcPts val="1155"/>
                        </a:spcBef>
                        <a:buNone/>
                      </a:pPr>
                      <a:r>
                        <a:rPr lang="en-US" sz="1200" spc="-25">
                          <a:effectLst/>
                        </a:rPr>
                        <a:t>[5]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25"/>
                        </a:spcBef>
                        <a:buNone/>
                      </a:pPr>
                      <a:r>
                        <a:rPr lang="en-US" sz="1200">
                          <a:effectLst/>
                        </a:rPr>
                        <a:t> </a:t>
                      </a:r>
                      <a:endParaRPr lang="en-IN" sz="1200">
                        <a:effectLst/>
                      </a:endParaRPr>
                    </a:p>
                    <a:p>
                      <a:pPr marL="26670" marR="28575" algn="ctr">
                        <a:buNone/>
                      </a:pPr>
                      <a:r>
                        <a:rPr lang="en-US" sz="1200" spc="-20">
                          <a:effectLst/>
                        </a:rPr>
                        <a:t>2017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189230">
                        <a:lnSpc>
                          <a:spcPts val="1150"/>
                        </a:lnSpc>
                        <a:spcBef>
                          <a:spcPts val="10"/>
                        </a:spcBef>
                        <a:buNone/>
                      </a:pPr>
                      <a:r>
                        <a:rPr lang="en-US" sz="1200" spc="-20">
                          <a:effectLst/>
                        </a:rPr>
                        <a:t>Enhanced</a:t>
                      </a:r>
                      <a:r>
                        <a:rPr lang="en-US" sz="1200" spc="-40">
                          <a:effectLst/>
                        </a:rPr>
                        <a:t> </a:t>
                      </a:r>
                      <a:r>
                        <a:rPr lang="en-US" sz="1200" spc="-20">
                          <a:effectLst/>
                        </a:rPr>
                        <a:t>digital</a:t>
                      </a:r>
                      <a:r>
                        <a:rPr lang="en-US" sz="1200" spc="-35">
                          <a:effectLst/>
                        </a:rPr>
                        <a:t> </a:t>
                      </a:r>
                      <a:r>
                        <a:rPr lang="en-US" sz="1200" spc="-20">
                          <a:effectLst/>
                        </a:rPr>
                        <a:t>control</a:t>
                      </a:r>
                      <a:r>
                        <a:rPr lang="en-US" sz="1200" spc="-65">
                          <a:effectLst/>
                        </a:rPr>
                        <a:t> </a:t>
                      </a:r>
                      <a:r>
                        <a:rPr lang="en-US" sz="1200" spc="-20">
                          <a:effectLst/>
                        </a:rPr>
                        <a:t>to </a:t>
                      </a:r>
                      <a:r>
                        <a:rPr lang="en-US" sz="1200">
                          <a:effectLst/>
                        </a:rPr>
                        <a:t>suppress limit cycle oscillations (LCO)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274320" indent="-3175">
                        <a:lnSpc>
                          <a:spcPct val="110000"/>
                        </a:lnSpc>
                        <a:spcBef>
                          <a:spcPts val="130"/>
                        </a:spcBef>
                        <a:buNone/>
                      </a:pPr>
                      <a:r>
                        <a:rPr lang="en-US" sz="1200" spc="-10">
                          <a:effectLst/>
                        </a:rPr>
                        <a:t>Quiescent</a:t>
                      </a:r>
                      <a:r>
                        <a:rPr lang="en-US" sz="1200" spc="-50">
                          <a:effectLst/>
                        </a:rPr>
                        <a:t> </a:t>
                      </a:r>
                      <a:r>
                        <a:rPr lang="en-US" sz="1200" spc="-10">
                          <a:effectLst/>
                        </a:rPr>
                        <a:t>Current</a:t>
                      </a:r>
                      <a:r>
                        <a:rPr lang="en-US" sz="1200" spc="-45">
                          <a:effectLst/>
                        </a:rPr>
                        <a:t> </a:t>
                      </a:r>
                      <a:r>
                        <a:rPr lang="en-US" sz="1200" spc="-10">
                          <a:effectLst/>
                        </a:rPr>
                        <a:t>(Iq),</a:t>
                      </a:r>
                      <a:r>
                        <a:rPr lang="en-US" sz="1200" spc="-45">
                          <a:effectLst/>
                        </a:rPr>
                        <a:t> </a:t>
                      </a:r>
                      <a:r>
                        <a:rPr lang="en-US" sz="1200" spc="-10">
                          <a:effectLst/>
                        </a:rPr>
                        <a:t>Power Dissipation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0">
                        <a:spcBef>
                          <a:spcPts val="10"/>
                        </a:spcBef>
                        <a:buNone/>
                      </a:pPr>
                      <a:r>
                        <a:rPr lang="en-US" sz="1200" dirty="0">
                          <a:effectLst/>
                        </a:rPr>
                        <a:t>Output</a:t>
                      </a:r>
                      <a:r>
                        <a:rPr lang="en-US" sz="1200" spc="-60" dirty="0">
                          <a:effectLst/>
                        </a:rPr>
                        <a:t> </a:t>
                      </a:r>
                      <a:r>
                        <a:rPr lang="en-US" sz="1200" dirty="0">
                          <a:effectLst/>
                        </a:rPr>
                        <a:t>ripple</a:t>
                      </a:r>
                      <a:r>
                        <a:rPr lang="en-US" sz="1200" spc="-40" dirty="0">
                          <a:effectLst/>
                        </a:rPr>
                        <a:t> </a:t>
                      </a:r>
                      <a:r>
                        <a:rPr lang="en-US" sz="1200" dirty="0">
                          <a:effectLst/>
                        </a:rPr>
                        <a:t>reduced</a:t>
                      </a:r>
                      <a:r>
                        <a:rPr lang="en-US" sz="1200" spc="-40" dirty="0">
                          <a:effectLst/>
                        </a:rPr>
                        <a:t> </a:t>
                      </a:r>
                      <a:r>
                        <a:rPr lang="en-US" sz="1200" spc="-25" dirty="0">
                          <a:effectLst/>
                        </a:rPr>
                        <a:t>by</a:t>
                      </a:r>
                      <a:endParaRPr lang="en-IN" sz="1200" dirty="0">
                        <a:effectLst/>
                      </a:endParaRPr>
                    </a:p>
                    <a:p>
                      <a:pPr marL="7620" marR="128270">
                        <a:lnSpc>
                          <a:spcPts val="1150"/>
                        </a:lnSpc>
                        <a:buNone/>
                      </a:pPr>
                      <a:r>
                        <a:rPr lang="en-US" sz="1200" spc="-20" dirty="0">
                          <a:effectLst/>
                        </a:rPr>
                        <a:t>&gt;50%,</a:t>
                      </a:r>
                      <a:r>
                        <a:rPr lang="en-US" sz="1200" spc="-65" dirty="0">
                          <a:effectLst/>
                        </a:rPr>
                        <a:t> </a:t>
                      </a:r>
                      <a:r>
                        <a:rPr lang="en-US" sz="1200" spc="-20" dirty="0">
                          <a:effectLst/>
                        </a:rPr>
                        <a:t>transient</a:t>
                      </a:r>
                      <a:r>
                        <a:rPr lang="en-US" sz="1200" spc="-60" dirty="0">
                          <a:effectLst/>
                        </a:rPr>
                        <a:t> </a:t>
                      </a:r>
                      <a:r>
                        <a:rPr lang="en-US" sz="1200" spc="-20" dirty="0">
                          <a:effectLst/>
                        </a:rPr>
                        <a:t>recovery </a:t>
                      </a:r>
                      <a:r>
                        <a:rPr lang="en-US" sz="1200" dirty="0">
                          <a:effectLst/>
                        </a:rPr>
                        <a:t>time</a:t>
                      </a:r>
                      <a:r>
                        <a:rPr lang="en-US" sz="1200" spc="-55" dirty="0">
                          <a:effectLst/>
                        </a:rPr>
                        <a:t> </a:t>
                      </a:r>
                      <a:r>
                        <a:rPr lang="en-US" sz="1200" dirty="0">
                          <a:effectLst/>
                        </a:rPr>
                        <a:t>improved</a:t>
                      </a:r>
                      <a:r>
                        <a:rPr lang="en-US" sz="1200" spc="-50" dirty="0">
                          <a:effectLst/>
                        </a:rPr>
                        <a:t> </a:t>
                      </a:r>
                      <a:r>
                        <a:rPr lang="en-US" sz="1200" dirty="0">
                          <a:effectLst/>
                        </a:rPr>
                        <a:t>by</a:t>
                      </a:r>
                      <a:r>
                        <a:rPr lang="en-US" sz="1200" spc="-50" dirty="0">
                          <a:effectLst/>
                        </a:rPr>
                        <a:t> </a:t>
                      </a:r>
                      <a:r>
                        <a:rPr lang="en-US" sz="1200" spc="-20" dirty="0">
                          <a:effectLst/>
                        </a:rPr>
                        <a:t>~35%</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07529237"/>
                  </a:ext>
                </a:extLst>
              </a:tr>
              <a:tr h="964757">
                <a:tc>
                  <a:txBody>
                    <a:bodyPr/>
                    <a:lstStyle/>
                    <a:p>
                      <a:pPr marL="25400" algn="ctr">
                        <a:spcBef>
                          <a:spcPts val="1145"/>
                        </a:spcBef>
                        <a:buNone/>
                      </a:pPr>
                      <a:r>
                        <a:rPr lang="en-US" sz="1200" spc="-25">
                          <a:effectLst/>
                        </a:rPr>
                        <a:t>[6]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15"/>
                        </a:spcBef>
                        <a:buNone/>
                      </a:pPr>
                      <a:r>
                        <a:rPr lang="en-US" sz="1200">
                          <a:effectLst/>
                        </a:rPr>
                        <a:t> </a:t>
                      </a:r>
                      <a:endParaRPr lang="en-IN" sz="1200">
                        <a:effectLst/>
                      </a:endParaRPr>
                    </a:p>
                    <a:p>
                      <a:pPr marL="26670" marR="28575" algn="ctr">
                        <a:buNone/>
                      </a:pPr>
                      <a:r>
                        <a:rPr lang="en-US" sz="1200" spc="-20">
                          <a:effectLst/>
                        </a:rPr>
                        <a:t>2017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284480">
                        <a:buNone/>
                      </a:pPr>
                      <a:r>
                        <a:rPr lang="en-US" sz="1200">
                          <a:effectLst/>
                        </a:rPr>
                        <a:t>Comprehensive review of state-of-the-art DLDO </a:t>
                      </a:r>
                      <a:r>
                        <a:rPr lang="en-US" sz="1200" spc="-20">
                          <a:effectLst/>
                        </a:rPr>
                        <a:t>architectures</a:t>
                      </a:r>
                      <a:r>
                        <a:rPr lang="en-US" sz="1200" spc="-30">
                          <a:effectLst/>
                        </a:rPr>
                        <a:t> </a:t>
                      </a:r>
                      <a:r>
                        <a:rPr lang="en-US" sz="1200" spc="-20">
                          <a:effectLst/>
                        </a:rPr>
                        <a:t>and challenges</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142875" algn="just">
                        <a:lnSpc>
                          <a:spcPct val="110000"/>
                        </a:lnSpc>
                        <a:spcBef>
                          <a:spcPts val="115"/>
                        </a:spcBef>
                        <a:buNone/>
                      </a:pPr>
                      <a:r>
                        <a:rPr lang="en-US" sz="1200" dirty="0">
                          <a:effectLst/>
                        </a:rPr>
                        <a:t>Current</a:t>
                      </a:r>
                      <a:r>
                        <a:rPr lang="en-US" sz="1200" spc="-60" dirty="0">
                          <a:effectLst/>
                        </a:rPr>
                        <a:t> </a:t>
                      </a:r>
                      <a:r>
                        <a:rPr lang="en-US" sz="1200" dirty="0">
                          <a:effectLst/>
                        </a:rPr>
                        <a:t>Efficiency</a:t>
                      </a:r>
                      <a:r>
                        <a:rPr lang="en-US" sz="1200" spc="-55" dirty="0">
                          <a:effectLst/>
                        </a:rPr>
                        <a:t> </a:t>
                      </a:r>
                      <a:r>
                        <a:rPr lang="en-US" sz="1200" dirty="0">
                          <a:effectLst/>
                        </a:rPr>
                        <a:t>(%),Dropout </a:t>
                      </a:r>
                      <a:r>
                        <a:rPr lang="en-US" sz="1200" dirty="0" err="1">
                          <a:effectLst/>
                        </a:rPr>
                        <a:t>Voltage,Load</a:t>
                      </a:r>
                      <a:r>
                        <a:rPr lang="en-US" sz="1200" dirty="0">
                          <a:effectLst/>
                        </a:rPr>
                        <a:t> Regulation,</a:t>
                      </a:r>
                      <a:r>
                        <a:rPr lang="en-US" sz="1200" spc="-5" dirty="0">
                          <a:effectLst/>
                        </a:rPr>
                        <a:t> </a:t>
                      </a:r>
                      <a:r>
                        <a:rPr lang="en-US" sz="1200" dirty="0">
                          <a:effectLst/>
                        </a:rPr>
                        <a:t>Line Regulation,</a:t>
                      </a:r>
                      <a:r>
                        <a:rPr lang="en-IN" sz="1200">
                          <a:effectLst/>
                        </a:rPr>
                        <a:t> </a:t>
                      </a:r>
                      <a:r>
                        <a:rPr lang="en-US" sz="1200">
                          <a:effectLst/>
                        </a:rPr>
                        <a:t>Area</a:t>
                      </a:r>
                      <a:r>
                        <a:rPr lang="en-US" sz="1200" spc="-60">
                          <a:effectLst/>
                        </a:rPr>
                        <a:t> </a:t>
                      </a:r>
                      <a:r>
                        <a:rPr lang="en-US" sz="1200" spc="-10" dirty="0">
                          <a:effectLst/>
                        </a:rPr>
                        <a:t>Overhead</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85725">
                        <a:buNone/>
                      </a:pPr>
                      <a:r>
                        <a:rPr lang="en-US" sz="1200" dirty="0">
                          <a:effectLst/>
                        </a:rPr>
                        <a:t>DLDO efficiency up to </a:t>
                      </a:r>
                      <a:r>
                        <a:rPr lang="en-US" sz="1200" spc="-10" dirty="0">
                          <a:effectLst/>
                        </a:rPr>
                        <a:t>99%,</a:t>
                      </a:r>
                      <a:r>
                        <a:rPr lang="en-US" sz="1200" spc="-55" dirty="0">
                          <a:effectLst/>
                        </a:rPr>
                        <a:t> </a:t>
                      </a:r>
                      <a:r>
                        <a:rPr lang="en-US" sz="1200" spc="-10" dirty="0">
                          <a:effectLst/>
                        </a:rPr>
                        <a:t>quiescent</a:t>
                      </a:r>
                      <a:r>
                        <a:rPr lang="en-US" sz="1200" spc="-75" dirty="0">
                          <a:effectLst/>
                        </a:rPr>
                        <a:t> </a:t>
                      </a:r>
                      <a:r>
                        <a:rPr lang="en-US" sz="1200" spc="-10" dirty="0">
                          <a:effectLst/>
                        </a:rPr>
                        <a:t>current</a:t>
                      </a:r>
                      <a:r>
                        <a:rPr lang="en-US" sz="1200" spc="-60" dirty="0">
                          <a:effectLst/>
                        </a:rPr>
                        <a:t> </a:t>
                      </a:r>
                      <a:r>
                        <a:rPr lang="en-US" sz="1200" spc="-10" dirty="0">
                          <a:effectLst/>
                        </a:rPr>
                        <a:t>as </a:t>
                      </a:r>
                      <a:r>
                        <a:rPr lang="en-US" sz="1200" dirty="0">
                          <a:effectLst/>
                        </a:rPr>
                        <a:t>low as 1–5 µA</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97065117"/>
                  </a:ext>
                </a:extLst>
              </a:tr>
            </a:tbl>
          </a:graphicData>
        </a:graphic>
      </p:graphicFrame>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5577-0B3A-59D5-C87C-812BF208FC84}"/>
            </a:ext>
          </a:extLst>
        </p:cNvPr>
        <p:cNvGrpSpPr/>
        <p:nvPr/>
      </p:nvGrpSpPr>
      <p:grpSpPr>
        <a:xfrm>
          <a:off x="0" y="0"/>
          <a:ext cx="0" cy="0"/>
          <a:chOff x="0" y="0"/>
          <a:chExt cx="0" cy="0"/>
        </a:xfrm>
      </p:grpSpPr>
      <p:grpSp>
        <p:nvGrpSpPr>
          <p:cNvPr id="76" name="Group 1">
            <a:extLst>
              <a:ext uri="{FF2B5EF4-FFF2-40B4-BE49-F238E27FC236}">
                <a16:creationId xmlns:a16="http://schemas.microsoft.com/office/drawing/2014/main" id="{16F3119C-D6C3-F2F3-D967-4D7C28BF5FFA}"/>
              </a:ext>
            </a:extLst>
          </p:cNvPr>
          <p:cNvGrpSpPr/>
          <p:nvPr/>
        </p:nvGrpSpPr>
        <p:grpSpPr>
          <a:xfrm>
            <a:off x="0" y="72000"/>
            <a:ext cx="12191760" cy="6785640"/>
            <a:chOff x="0" y="72000"/>
            <a:chExt cx="12191760" cy="6785640"/>
          </a:xfrm>
        </p:grpSpPr>
        <p:pic>
          <p:nvPicPr>
            <p:cNvPr id="77" name="Google Shape;115;p3">
              <a:extLst>
                <a:ext uri="{FF2B5EF4-FFF2-40B4-BE49-F238E27FC236}">
                  <a16:creationId xmlns:a16="http://schemas.microsoft.com/office/drawing/2014/main" id="{5F846331-B4F2-030D-8B20-22C5DB43E5D9}"/>
                </a:ext>
              </a:extLst>
            </p:cNvPr>
            <p:cNvPicPr/>
            <p:nvPr/>
          </p:nvPicPr>
          <p:blipFill>
            <a:blip r:embed="rId3"/>
            <a:stretch/>
          </p:blipFill>
          <p:spPr>
            <a:xfrm>
              <a:off x="11211120" y="72000"/>
              <a:ext cx="830520" cy="809640"/>
            </a:xfrm>
            <a:prstGeom prst="rect">
              <a:avLst/>
            </a:prstGeom>
            <a:ln>
              <a:noFill/>
            </a:ln>
          </p:spPr>
        </p:pic>
        <p:sp>
          <p:nvSpPr>
            <p:cNvPr id="78" name="CustomShape 2">
              <a:extLst>
                <a:ext uri="{FF2B5EF4-FFF2-40B4-BE49-F238E27FC236}">
                  <a16:creationId xmlns:a16="http://schemas.microsoft.com/office/drawing/2014/main" id="{F0A6A865-3772-345B-727A-7C2D1C9AFC75}"/>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79" name="CustomShape 3">
              <a:extLst>
                <a:ext uri="{FF2B5EF4-FFF2-40B4-BE49-F238E27FC236}">
                  <a16:creationId xmlns:a16="http://schemas.microsoft.com/office/drawing/2014/main" id="{632CB425-FC09-6085-F9DA-7E32809F37E4}"/>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80" name="CustomShape 4">
              <a:extLst>
                <a:ext uri="{FF2B5EF4-FFF2-40B4-BE49-F238E27FC236}">
                  <a16:creationId xmlns:a16="http://schemas.microsoft.com/office/drawing/2014/main" id="{85EB39DE-AFD3-4D68-2A0D-277D0F897C07}"/>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81" name="CustomShape 5">
              <a:extLst>
                <a:ext uri="{FF2B5EF4-FFF2-40B4-BE49-F238E27FC236}">
                  <a16:creationId xmlns:a16="http://schemas.microsoft.com/office/drawing/2014/main" id="{A04BEB95-1BE6-E004-36A5-EE37F0AE0241}"/>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83" name="CustomShape 7">
            <a:extLst>
              <a:ext uri="{FF2B5EF4-FFF2-40B4-BE49-F238E27FC236}">
                <a16:creationId xmlns:a16="http://schemas.microsoft.com/office/drawing/2014/main" id="{2D0BBAC8-1F7D-778A-B46E-D219830C0E00}"/>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84" name="CustomShape 8">
            <a:extLst>
              <a:ext uri="{FF2B5EF4-FFF2-40B4-BE49-F238E27FC236}">
                <a16:creationId xmlns:a16="http://schemas.microsoft.com/office/drawing/2014/main" id="{31725D90-EDF3-D636-298A-7096826ECF4A}"/>
              </a:ext>
            </a:extLst>
          </p:cNvPr>
          <p:cNvSpPr/>
          <p:nvPr/>
        </p:nvSpPr>
        <p:spPr>
          <a:xfrm>
            <a:off x="3584160" y="153720"/>
            <a:ext cx="499068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IN" sz="3600" b="0" strike="noStrike" spc="-1" dirty="0">
                <a:solidFill>
                  <a:srgbClr val="000000"/>
                </a:solidFill>
                <a:latin typeface="Arial"/>
                <a:ea typeface="Arial"/>
              </a:rPr>
              <a:t>LITERATURE SURVEY</a:t>
            </a:r>
            <a:endParaRPr lang="en-IN" sz="3600" b="0" strike="noStrike" spc="-1" dirty="0">
              <a:latin typeface="Arial"/>
            </a:endParaRPr>
          </a:p>
        </p:txBody>
      </p:sp>
      <p:cxnSp>
        <p:nvCxnSpPr>
          <p:cNvPr id="7" name="Straight Connector 6">
            <a:extLst>
              <a:ext uri="{FF2B5EF4-FFF2-40B4-BE49-F238E27FC236}">
                <a16:creationId xmlns:a16="http://schemas.microsoft.com/office/drawing/2014/main" id="{ACF0888D-EB11-9332-7655-1D1843901821}"/>
              </a:ext>
            </a:extLst>
          </p:cNvPr>
          <p:cNvCxnSpPr/>
          <p:nvPr/>
        </p:nvCxnSpPr>
        <p:spPr>
          <a:xfrm>
            <a:off x="-504825" y="153720"/>
            <a:ext cx="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D0F5B3BB-EB7A-331F-56C7-191B525A6482}"/>
              </a:ext>
            </a:extLst>
          </p:cNvPr>
          <p:cNvGraphicFramePr>
            <a:graphicFrameLocks noGrp="1"/>
          </p:cNvGraphicFramePr>
          <p:nvPr>
            <p:extLst>
              <p:ext uri="{D42A27DB-BD31-4B8C-83A1-F6EECF244321}">
                <p14:modId xmlns:p14="http://schemas.microsoft.com/office/powerpoint/2010/main" val="3351698835"/>
              </p:ext>
            </p:extLst>
          </p:nvPr>
        </p:nvGraphicFramePr>
        <p:xfrm>
          <a:off x="473520" y="1093470"/>
          <a:ext cx="10453560" cy="4767834"/>
        </p:xfrm>
        <a:graphic>
          <a:graphicData uri="http://schemas.openxmlformats.org/drawingml/2006/table">
            <a:tbl>
              <a:tblPr firstRow="1" firstCol="1" lastRow="1" lastCol="1" bandRow="1" bandCol="1">
                <a:tableStyleId>{5940675A-B579-460E-94D1-54222C63F5DA}</a:tableStyleId>
              </a:tblPr>
              <a:tblGrid>
                <a:gridCol w="2573811">
                  <a:extLst>
                    <a:ext uri="{9D8B030D-6E8A-4147-A177-3AD203B41FA5}">
                      <a16:colId xmlns:a16="http://schemas.microsoft.com/office/drawing/2014/main" val="338283694"/>
                    </a:ext>
                  </a:extLst>
                </a:gridCol>
                <a:gridCol w="646534">
                  <a:extLst>
                    <a:ext uri="{9D8B030D-6E8A-4147-A177-3AD203B41FA5}">
                      <a16:colId xmlns:a16="http://schemas.microsoft.com/office/drawing/2014/main" val="1403580483"/>
                    </a:ext>
                  </a:extLst>
                </a:gridCol>
                <a:gridCol w="2621211">
                  <a:extLst>
                    <a:ext uri="{9D8B030D-6E8A-4147-A177-3AD203B41FA5}">
                      <a16:colId xmlns:a16="http://schemas.microsoft.com/office/drawing/2014/main" val="2733300708"/>
                    </a:ext>
                  </a:extLst>
                </a:gridCol>
                <a:gridCol w="2541579">
                  <a:extLst>
                    <a:ext uri="{9D8B030D-6E8A-4147-A177-3AD203B41FA5}">
                      <a16:colId xmlns:a16="http://schemas.microsoft.com/office/drawing/2014/main" val="2011611084"/>
                    </a:ext>
                  </a:extLst>
                </a:gridCol>
                <a:gridCol w="2070425">
                  <a:extLst>
                    <a:ext uri="{9D8B030D-6E8A-4147-A177-3AD203B41FA5}">
                      <a16:colId xmlns:a16="http://schemas.microsoft.com/office/drawing/2014/main" val="3803980321"/>
                    </a:ext>
                  </a:extLst>
                </a:gridCol>
              </a:tblGrid>
              <a:tr h="1489948">
                <a:tc>
                  <a:txBody>
                    <a:bodyPr/>
                    <a:lstStyle/>
                    <a:p>
                      <a:pPr marL="25400" algn="ctr">
                        <a:spcBef>
                          <a:spcPts val="1215"/>
                        </a:spcBef>
                        <a:buNone/>
                      </a:pPr>
                      <a:r>
                        <a:rPr lang="en-US" sz="1200" spc="-25" dirty="0">
                          <a:effectLst/>
                        </a:rPr>
                        <a:t>[7]</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50"/>
                        </a:spcBef>
                        <a:buNone/>
                      </a:pPr>
                      <a:r>
                        <a:rPr lang="en-US" sz="1200" dirty="0">
                          <a:effectLst/>
                        </a:rPr>
                        <a:t> </a:t>
                      </a:r>
                      <a:endParaRPr lang="en-IN" sz="1200" dirty="0">
                        <a:effectLst/>
                      </a:endParaRPr>
                    </a:p>
                    <a:p>
                      <a:pPr marL="26670" marR="28575" algn="ctr">
                        <a:buNone/>
                      </a:pPr>
                      <a:r>
                        <a:rPr lang="en-US" sz="1200" spc="-20" dirty="0">
                          <a:effectLst/>
                        </a:rPr>
                        <a:t>2020</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189230">
                        <a:lnSpc>
                          <a:spcPct val="102000"/>
                        </a:lnSpc>
                        <a:spcBef>
                          <a:spcPts val="50"/>
                        </a:spcBef>
                        <a:buNone/>
                      </a:pPr>
                      <a:r>
                        <a:rPr lang="en-US" sz="1200" dirty="0">
                          <a:effectLst/>
                        </a:rPr>
                        <a:t>Dual-mode asynchronous </a:t>
                      </a:r>
                      <a:r>
                        <a:rPr lang="en-US" sz="1200" spc="-20" dirty="0">
                          <a:effectLst/>
                        </a:rPr>
                        <a:t>control</a:t>
                      </a:r>
                      <a:r>
                        <a:rPr lang="en-US" sz="1200" spc="-30" dirty="0">
                          <a:effectLst/>
                        </a:rPr>
                        <a:t> </a:t>
                      </a:r>
                      <a:r>
                        <a:rPr lang="en-US" sz="1200" spc="-20" dirty="0">
                          <a:effectLst/>
                        </a:rPr>
                        <a:t>for ultra-low-voltage DLDO</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302260">
                        <a:lnSpc>
                          <a:spcPct val="110000"/>
                        </a:lnSpc>
                        <a:spcBef>
                          <a:spcPts val="165"/>
                        </a:spcBef>
                        <a:buNone/>
                      </a:pPr>
                      <a:r>
                        <a:rPr lang="en-US" sz="1200" spc="-10" dirty="0">
                          <a:effectLst/>
                        </a:rPr>
                        <a:t>Output</a:t>
                      </a:r>
                      <a:r>
                        <a:rPr lang="en-US" sz="1200" spc="-50" dirty="0">
                          <a:effectLst/>
                        </a:rPr>
                        <a:t> </a:t>
                      </a:r>
                      <a:r>
                        <a:rPr lang="en-US" sz="1200" spc="-10" dirty="0">
                          <a:effectLst/>
                        </a:rPr>
                        <a:t>Voltage</a:t>
                      </a:r>
                      <a:r>
                        <a:rPr lang="en-US" sz="1200" spc="-50" dirty="0">
                          <a:effectLst/>
                        </a:rPr>
                        <a:t> </a:t>
                      </a:r>
                      <a:r>
                        <a:rPr lang="en-US" sz="1200" spc="-10" dirty="0">
                          <a:effectLst/>
                        </a:rPr>
                        <a:t>Ripple,</a:t>
                      </a:r>
                      <a:r>
                        <a:rPr lang="en-US" sz="1200" spc="-45" dirty="0">
                          <a:effectLst/>
                        </a:rPr>
                        <a:t> </a:t>
                      </a:r>
                      <a:r>
                        <a:rPr lang="en-US" sz="1200" spc="-10" dirty="0">
                          <a:effectLst/>
                        </a:rPr>
                        <a:t>Limit </a:t>
                      </a:r>
                      <a:r>
                        <a:rPr lang="en-US" sz="1200" dirty="0">
                          <a:effectLst/>
                        </a:rPr>
                        <a:t>Cycle Oscillation (LCO)</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0" marR="294640">
                        <a:spcBef>
                          <a:spcPts val="35"/>
                        </a:spcBef>
                        <a:buNone/>
                      </a:pPr>
                      <a:r>
                        <a:rPr lang="en-US" sz="1200" spc="-20" dirty="0">
                          <a:effectLst/>
                        </a:rPr>
                        <a:t>Load</a:t>
                      </a:r>
                      <a:r>
                        <a:rPr lang="en-US" sz="1200" spc="-75" dirty="0">
                          <a:effectLst/>
                        </a:rPr>
                        <a:t> </a:t>
                      </a:r>
                      <a:r>
                        <a:rPr lang="en-US" sz="1200" spc="-20" dirty="0">
                          <a:effectLst/>
                        </a:rPr>
                        <a:t>regulation </a:t>
                      </a:r>
                      <a:r>
                        <a:rPr lang="en-US" sz="1200" dirty="0">
                          <a:effectLst/>
                        </a:rPr>
                        <a:t>improved by</a:t>
                      </a:r>
                      <a:endParaRPr lang="en-IN" sz="1200" dirty="0">
                        <a:effectLst/>
                      </a:endParaRPr>
                    </a:p>
                    <a:p>
                      <a:pPr marL="7620">
                        <a:lnSpc>
                          <a:spcPts val="1120"/>
                        </a:lnSpc>
                        <a:buNone/>
                      </a:pPr>
                      <a:r>
                        <a:rPr lang="en-US" sz="1200" spc="-20" dirty="0">
                          <a:effectLst/>
                        </a:rPr>
                        <a:t>~20%,</a:t>
                      </a:r>
                      <a:r>
                        <a:rPr lang="en-US" sz="1200" spc="-10" dirty="0">
                          <a:effectLst/>
                        </a:rPr>
                        <a:t> </a:t>
                      </a:r>
                      <a:r>
                        <a:rPr lang="en-US" sz="1200" spc="-20" dirty="0">
                          <a:effectLst/>
                        </a:rPr>
                        <a:t>transient</a:t>
                      </a:r>
                      <a:r>
                        <a:rPr lang="en-US" sz="1200" spc="-40" dirty="0">
                          <a:effectLst/>
                        </a:rPr>
                        <a:t> </a:t>
                      </a:r>
                      <a:r>
                        <a:rPr lang="en-US" sz="1200" spc="-20" dirty="0">
                          <a:effectLst/>
                        </a:rPr>
                        <a:t>response</a:t>
                      </a:r>
                      <a:endParaRPr lang="en-IN" sz="1200" dirty="0">
                        <a:effectLst/>
                      </a:endParaRPr>
                    </a:p>
                    <a:p>
                      <a:pPr marL="7620">
                        <a:lnSpc>
                          <a:spcPts val="1160"/>
                        </a:lnSpc>
                        <a:buNone/>
                      </a:pPr>
                      <a:r>
                        <a:rPr lang="en-US" sz="1200" spc="-10" dirty="0">
                          <a:effectLst/>
                        </a:rPr>
                        <a:t>&lt;</a:t>
                      </a:r>
                      <a:r>
                        <a:rPr lang="en-US" sz="1200" spc="-75" dirty="0">
                          <a:effectLst/>
                        </a:rPr>
                        <a:t> </a:t>
                      </a:r>
                      <a:r>
                        <a:rPr lang="en-US" sz="1200" spc="-10" dirty="0">
                          <a:effectLst/>
                        </a:rPr>
                        <a:t>80</a:t>
                      </a:r>
                      <a:r>
                        <a:rPr lang="en-US" sz="1200" spc="-55" dirty="0">
                          <a:effectLst/>
                        </a:rPr>
                        <a:t> </a:t>
                      </a:r>
                      <a:r>
                        <a:rPr lang="en-US" sz="1200" spc="-10" dirty="0">
                          <a:effectLst/>
                        </a:rPr>
                        <a:t>ns,</a:t>
                      </a:r>
                      <a:r>
                        <a:rPr lang="en-US" sz="1200" spc="-55" dirty="0">
                          <a:effectLst/>
                        </a:rPr>
                        <a:t> </a:t>
                      </a:r>
                      <a:r>
                        <a:rPr lang="en-US" sz="1200" spc="-10" dirty="0">
                          <a:effectLst/>
                        </a:rPr>
                        <a:t>no</a:t>
                      </a:r>
                      <a:r>
                        <a:rPr lang="en-US" sz="1200" spc="-65" dirty="0">
                          <a:effectLst/>
                        </a:rPr>
                        <a:t> </a:t>
                      </a:r>
                      <a:r>
                        <a:rPr lang="en-US" sz="1200" spc="-10" dirty="0">
                          <a:effectLst/>
                        </a:rPr>
                        <a:t>increase</a:t>
                      </a:r>
                      <a:r>
                        <a:rPr lang="en-US" sz="1200" spc="-55" dirty="0">
                          <a:effectLst/>
                        </a:rPr>
                        <a:t> </a:t>
                      </a:r>
                      <a:r>
                        <a:rPr lang="en-US" sz="1200" spc="-10" dirty="0">
                          <a:effectLst/>
                        </a:rPr>
                        <a:t>in </a:t>
                      </a:r>
                      <a:r>
                        <a:rPr lang="en-US" sz="1200" dirty="0">
                          <a:effectLst/>
                        </a:rPr>
                        <a:t>quiescent current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549972316"/>
                  </a:ext>
                </a:extLst>
              </a:tr>
              <a:tr h="979109">
                <a:tc>
                  <a:txBody>
                    <a:bodyPr/>
                    <a:lstStyle/>
                    <a:p>
                      <a:pPr marL="25400" algn="ctr">
                        <a:spcBef>
                          <a:spcPts val="1180"/>
                        </a:spcBef>
                        <a:buNone/>
                      </a:pPr>
                      <a:r>
                        <a:rPr lang="en-US" sz="1200" spc="-25">
                          <a:effectLst/>
                        </a:rPr>
                        <a:t>[8]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50"/>
                        </a:spcBef>
                        <a:buNone/>
                      </a:pPr>
                      <a:r>
                        <a:rPr lang="en-US" sz="1200">
                          <a:effectLst/>
                        </a:rPr>
                        <a:t> </a:t>
                      </a:r>
                      <a:endParaRPr lang="en-IN" sz="1200">
                        <a:effectLst/>
                      </a:endParaRPr>
                    </a:p>
                    <a:p>
                      <a:pPr marL="26670" marR="28575" algn="ctr">
                        <a:buNone/>
                      </a:pPr>
                      <a:r>
                        <a:rPr lang="en-US" sz="1200" spc="-20">
                          <a:effectLst/>
                        </a:rPr>
                        <a:t>2021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322580">
                        <a:lnSpc>
                          <a:spcPts val="1150"/>
                        </a:lnSpc>
                        <a:buNone/>
                      </a:pPr>
                      <a:r>
                        <a:rPr lang="en-US" sz="1200">
                          <a:effectLst/>
                        </a:rPr>
                        <a:t>Used voltage-controlled </a:t>
                      </a:r>
                      <a:r>
                        <a:rPr lang="en-US" sz="1200" spc="-10">
                          <a:effectLst/>
                        </a:rPr>
                        <a:t>oscillator</a:t>
                      </a:r>
                      <a:r>
                        <a:rPr lang="en-US" sz="1200" spc="-70">
                          <a:effectLst/>
                        </a:rPr>
                        <a:t> </a:t>
                      </a:r>
                      <a:r>
                        <a:rPr lang="en-US" sz="1200" spc="-10">
                          <a:effectLst/>
                        </a:rPr>
                        <a:t>(VCO)</a:t>
                      </a:r>
                      <a:r>
                        <a:rPr lang="en-US" sz="1200" spc="-55">
                          <a:effectLst/>
                        </a:rPr>
                        <a:t> </a:t>
                      </a:r>
                      <a:r>
                        <a:rPr lang="en-US" sz="1200" spc="-10">
                          <a:effectLst/>
                        </a:rPr>
                        <a:t>for</a:t>
                      </a:r>
                      <a:r>
                        <a:rPr lang="en-US" sz="1200" spc="-70">
                          <a:effectLst/>
                        </a:rPr>
                        <a:t> </a:t>
                      </a:r>
                      <a:r>
                        <a:rPr lang="en-US" sz="1200" spc="-10">
                          <a:effectLst/>
                        </a:rPr>
                        <a:t>digital </a:t>
                      </a:r>
                      <a:r>
                        <a:rPr lang="en-US" sz="1200">
                          <a:effectLst/>
                        </a:rPr>
                        <a:t>feedback control</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139700">
                        <a:spcBef>
                          <a:spcPts val="45"/>
                        </a:spcBef>
                        <a:buNone/>
                      </a:pPr>
                      <a:r>
                        <a:rPr lang="en-US" sz="1200" spc="-10">
                          <a:effectLst/>
                        </a:rPr>
                        <a:t>Transient</a:t>
                      </a:r>
                      <a:r>
                        <a:rPr lang="en-US" sz="1200" spc="-50">
                          <a:effectLst/>
                        </a:rPr>
                        <a:t> </a:t>
                      </a:r>
                      <a:r>
                        <a:rPr lang="en-US" sz="1200" spc="-10">
                          <a:effectLst/>
                        </a:rPr>
                        <a:t>Response</a:t>
                      </a:r>
                      <a:r>
                        <a:rPr lang="en-US" sz="1200" spc="-50">
                          <a:effectLst/>
                        </a:rPr>
                        <a:t> </a:t>
                      </a:r>
                      <a:r>
                        <a:rPr lang="en-US" sz="1200" spc="-10">
                          <a:effectLst/>
                        </a:rPr>
                        <a:t>Time,</a:t>
                      </a:r>
                      <a:r>
                        <a:rPr lang="en-US" sz="1200" spc="-45">
                          <a:effectLst/>
                        </a:rPr>
                        <a:t> </a:t>
                      </a:r>
                      <a:r>
                        <a:rPr lang="en-US" sz="1200" spc="-10">
                          <a:effectLst/>
                        </a:rPr>
                        <a:t>Power Dissipation</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a:lnSpc>
                          <a:spcPts val="1125"/>
                        </a:lnSpc>
                        <a:buNone/>
                      </a:pPr>
                      <a:r>
                        <a:rPr lang="en-US" sz="1200" spc="-20">
                          <a:effectLst/>
                        </a:rPr>
                        <a:t>Settling</a:t>
                      </a:r>
                      <a:r>
                        <a:rPr lang="en-US" sz="1200" spc="5">
                          <a:effectLst/>
                        </a:rPr>
                        <a:t> </a:t>
                      </a:r>
                      <a:r>
                        <a:rPr lang="en-US" sz="1200" spc="-20">
                          <a:effectLst/>
                        </a:rPr>
                        <a:t>time</a:t>
                      </a:r>
                      <a:r>
                        <a:rPr lang="en-US" sz="1200" spc="-15">
                          <a:effectLst/>
                        </a:rPr>
                        <a:t> </a:t>
                      </a:r>
                      <a:r>
                        <a:rPr lang="en-US" sz="1200" spc="-20">
                          <a:effectLst/>
                        </a:rPr>
                        <a:t>reduced</a:t>
                      </a:r>
                      <a:r>
                        <a:rPr lang="en-US" sz="1200" spc="-15">
                          <a:effectLst/>
                        </a:rPr>
                        <a:t> </a:t>
                      </a:r>
                      <a:r>
                        <a:rPr lang="en-US" sz="1200" spc="-25">
                          <a:effectLst/>
                        </a:rPr>
                        <a:t>by</a:t>
                      </a:r>
                      <a:endParaRPr lang="en-IN" sz="1200">
                        <a:effectLst/>
                      </a:endParaRPr>
                    </a:p>
                    <a:p>
                      <a:pPr marL="7620">
                        <a:spcBef>
                          <a:spcPts val="20"/>
                        </a:spcBef>
                        <a:buNone/>
                      </a:pPr>
                      <a:r>
                        <a:rPr lang="en-US" sz="1200" spc="-10">
                          <a:effectLst/>
                        </a:rPr>
                        <a:t>~45%,</a:t>
                      </a:r>
                      <a:r>
                        <a:rPr lang="en-US" sz="1200" spc="-55">
                          <a:effectLst/>
                        </a:rPr>
                        <a:t> </a:t>
                      </a:r>
                      <a:r>
                        <a:rPr lang="en-US" sz="1200" spc="-10">
                          <a:effectLst/>
                        </a:rPr>
                        <a:t>output</a:t>
                      </a:r>
                      <a:r>
                        <a:rPr lang="en-US" sz="1200" spc="-55">
                          <a:effectLst/>
                        </a:rPr>
                        <a:t> </a:t>
                      </a:r>
                      <a:r>
                        <a:rPr lang="en-US" sz="1200" spc="-10">
                          <a:effectLst/>
                        </a:rPr>
                        <a:t>ripple</a:t>
                      </a:r>
                      <a:r>
                        <a:rPr lang="en-US" sz="1200" spc="-55">
                          <a:effectLst/>
                        </a:rPr>
                        <a:t> </a:t>
                      </a:r>
                      <a:r>
                        <a:rPr lang="en-US" sz="1200" spc="-10">
                          <a:effectLst/>
                        </a:rPr>
                        <a:t>&lt;</a:t>
                      </a:r>
                      <a:r>
                        <a:rPr lang="en-US" sz="1200" spc="-75">
                          <a:effectLst/>
                        </a:rPr>
                        <a:t> </a:t>
                      </a:r>
                      <a:r>
                        <a:rPr lang="en-US" sz="1200" spc="-10">
                          <a:effectLst/>
                        </a:rPr>
                        <a:t>10 </a:t>
                      </a:r>
                      <a:r>
                        <a:rPr lang="en-US" sz="1200" spc="-30">
                          <a:effectLst/>
                        </a:rPr>
                        <a:t>mV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336286603"/>
                  </a:ext>
                </a:extLst>
              </a:tr>
              <a:tr h="1021679">
                <a:tc>
                  <a:txBody>
                    <a:bodyPr/>
                    <a:lstStyle/>
                    <a:p>
                      <a:pPr marL="25400" algn="ctr">
                        <a:spcBef>
                          <a:spcPts val="1155"/>
                        </a:spcBef>
                        <a:buNone/>
                      </a:pPr>
                      <a:r>
                        <a:rPr lang="en-US" sz="1200" spc="-25">
                          <a:effectLst/>
                        </a:rPr>
                        <a:t>[9]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50"/>
                        </a:spcBef>
                        <a:buNone/>
                      </a:pPr>
                      <a:r>
                        <a:rPr lang="en-US" sz="1200">
                          <a:effectLst/>
                        </a:rPr>
                        <a:t> </a:t>
                      </a:r>
                      <a:endParaRPr lang="en-IN" sz="1200">
                        <a:effectLst/>
                      </a:endParaRPr>
                    </a:p>
                    <a:p>
                      <a:pPr marL="26670" marR="28575" algn="ctr">
                        <a:buNone/>
                      </a:pPr>
                      <a:r>
                        <a:rPr lang="en-US" sz="1200" spc="-20">
                          <a:effectLst/>
                        </a:rPr>
                        <a:t>2023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10"/>
                        </a:spcBef>
                        <a:buNone/>
                      </a:pPr>
                      <a:r>
                        <a:rPr lang="en-US" sz="1200" spc="-20">
                          <a:effectLst/>
                        </a:rPr>
                        <a:t>Adaptive</a:t>
                      </a:r>
                      <a:r>
                        <a:rPr lang="en-US" sz="1200" spc="-5">
                          <a:effectLst/>
                        </a:rPr>
                        <a:t> </a:t>
                      </a:r>
                      <a:r>
                        <a:rPr lang="en-US" sz="1200" spc="-20">
                          <a:effectLst/>
                        </a:rPr>
                        <a:t>DLDO</a:t>
                      </a:r>
                      <a:r>
                        <a:rPr lang="en-US" sz="1200" spc="-15">
                          <a:effectLst/>
                        </a:rPr>
                        <a:t> </a:t>
                      </a:r>
                      <a:r>
                        <a:rPr lang="en-US" sz="1200" spc="-20">
                          <a:effectLst/>
                        </a:rPr>
                        <a:t>using</a:t>
                      </a:r>
                      <a:endParaRPr lang="en-IN" sz="1200">
                        <a:effectLst/>
                      </a:endParaRPr>
                    </a:p>
                    <a:p>
                      <a:pPr marL="77470">
                        <a:lnSpc>
                          <a:spcPct val="95000"/>
                        </a:lnSpc>
                        <a:spcBef>
                          <a:spcPts val="75"/>
                        </a:spcBef>
                        <a:buNone/>
                      </a:pPr>
                      <a:r>
                        <a:rPr lang="en-US" sz="1200" spc="-20">
                          <a:effectLst/>
                        </a:rPr>
                        <a:t>dithering</a:t>
                      </a:r>
                      <a:r>
                        <a:rPr lang="en-US" sz="1200" spc="-35">
                          <a:effectLst/>
                        </a:rPr>
                        <a:t> </a:t>
                      </a:r>
                      <a:r>
                        <a:rPr lang="en-US" sz="1200" spc="-20">
                          <a:effectLst/>
                        </a:rPr>
                        <a:t>control</a:t>
                      </a:r>
                      <a:r>
                        <a:rPr lang="en-US" sz="1200" spc="-25">
                          <a:effectLst/>
                        </a:rPr>
                        <a:t> </a:t>
                      </a:r>
                      <a:r>
                        <a:rPr lang="en-US" sz="1200" spc="-20">
                          <a:effectLst/>
                        </a:rPr>
                        <a:t>and</a:t>
                      </a:r>
                      <a:r>
                        <a:rPr lang="en-US" sz="1200" spc="-35">
                          <a:effectLst/>
                        </a:rPr>
                        <a:t> </a:t>
                      </a:r>
                      <a:r>
                        <a:rPr lang="en-US" sz="1200" spc="-20">
                          <a:effectLst/>
                        </a:rPr>
                        <a:t>dynamic </a:t>
                      </a:r>
                      <a:r>
                        <a:rPr lang="en-US" sz="1200">
                          <a:effectLst/>
                        </a:rPr>
                        <a:t>frequency</a:t>
                      </a:r>
                      <a:r>
                        <a:rPr lang="en-US" sz="1200" spc="200">
                          <a:effectLst/>
                        </a:rPr>
                        <a:t> </a:t>
                      </a:r>
                      <a:r>
                        <a:rPr lang="en-US" sz="1200">
                          <a:effectLst/>
                        </a:rPr>
                        <a:t>scaling</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a:lnSpc>
                          <a:spcPct val="95000"/>
                        </a:lnSpc>
                        <a:spcBef>
                          <a:spcPts val="85"/>
                        </a:spcBef>
                        <a:buNone/>
                      </a:pPr>
                      <a:r>
                        <a:rPr lang="en-US" sz="1200" spc="-10">
                          <a:effectLst/>
                        </a:rPr>
                        <a:t>Current</a:t>
                      </a:r>
                      <a:r>
                        <a:rPr lang="en-US" sz="1200" spc="-50">
                          <a:effectLst/>
                        </a:rPr>
                        <a:t> </a:t>
                      </a:r>
                      <a:r>
                        <a:rPr lang="en-US" sz="1200" spc="-10">
                          <a:effectLst/>
                        </a:rPr>
                        <a:t>Efficiency</a:t>
                      </a:r>
                      <a:r>
                        <a:rPr lang="en-US" sz="1200" spc="-45">
                          <a:effectLst/>
                        </a:rPr>
                        <a:t> </a:t>
                      </a:r>
                      <a:r>
                        <a:rPr lang="en-US" sz="1200" spc="-10">
                          <a:effectLst/>
                        </a:rPr>
                        <a:t>(%),Quiescent </a:t>
                      </a:r>
                      <a:r>
                        <a:rPr lang="en-US" sz="1200">
                          <a:effectLst/>
                        </a:rPr>
                        <a:t>Current (Iq), Dropout Voltage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marR="112395" indent="68580">
                        <a:lnSpc>
                          <a:spcPts val="1150"/>
                        </a:lnSpc>
                        <a:spcBef>
                          <a:spcPts val="10"/>
                        </a:spcBef>
                        <a:buNone/>
                      </a:pPr>
                      <a:r>
                        <a:rPr lang="en-US" sz="1200" spc="-20">
                          <a:effectLst/>
                        </a:rPr>
                        <a:t>Efficiency</a:t>
                      </a:r>
                      <a:r>
                        <a:rPr lang="en-US" sz="1200" spc="-45">
                          <a:effectLst/>
                        </a:rPr>
                        <a:t> </a:t>
                      </a:r>
                      <a:r>
                        <a:rPr lang="en-US" sz="1200" spc="-20">
                          <a:effectLst/>
                        </a:rPr>
                        <a:t>&gt;95%,</a:t>
                      </a:r>
                      <a:r>
                        <a:rPr lang="en-US" sz="1200" spc="-70">
                          <a:effectLst/>
                        </a:rPr>
                        <a:t> </a:t>
                      </a:r>
                      <a:r>
                        <a:rPr lang="en-US" sz="1200" spc="-20">
                          <a:effectLst/>
                        </a:rPr>
                        <a:t>ripple </a:t>
                      </a:r>
                      <a:r>
                        <a:rPr lang="en-US" sz="1200">
                          <a:effectLst/>
                        </a:rPr>
                        <a:t>reduced by ~30%, quiescent</a:t>
                      </a:r>
                      <a:r>
                        <a:rPr lang="en-US" sz="1200" spc="-65">
                          <a:effectLst/>
                        </a:rPr>
                        <a:t> </a:t>
                      </a:r>
                      <a:r>
                        <a:rPr lang="en-US" sz="1200">
                          <a:effectLst/>
                        </a:rPr>
                        <a:t>current</a:t>
                      </a:r>
                      <a:r>
                        <a:rPr lang="en-US" sz="1200" spc="-60">
                          <a:effectLst/>
                        </a:rPr>
                        <a:t> </a:t>
                      </a:r>
                      <a:r>
                        <a:rPr lang="en-US" sz="1200">
                          <a:effectLst/>
                        </a:rPr>
                        <a:t>&lt;</a:t>
                      </a:r>
                      <a:r>
                        <a:rPr lang="en-US" sz="1200" spc="-65">
                          <a:effectLst/>
                        </a:rPr>
                        <a:t> </a:t>
                      </a:r>
                      <a:r>
                        <a:rPr lang="en-US" sz="1200">
                          <a:effectLst/>
                        </a:rPr>
                        <a:t>3</a:t>
                      </a:r>
                      <a:r>
                        <a:rPr lang="en-US" sz="1200" spc="-60">
                          <a:effectLst/>
                        </a:rPr>
                        <a:t> </a:t>
                      </a:r>
                      <a:r>
                        <a:rPr lang="en-US" sz="1200">
                          <a:effectLst/>
                        </a:rPr>
                        <a:t>µA</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25017984"/>
                  </a:ext>
                </a:extLst>
              </a:tr>
              <a:tr h="1277098">
                <a:tc>
                  <a:txBody>
                    <a:bodyPr/>
                    <a:lstStyle/>
                    <a:p>
                      <a:pPr marL="25400" marR="3175" algn="ctr">
                        <a:spcBef>
                          <a:spcPts val="1095"/>
                        </a:spcBef>
                        <a:buNone/>
                      </a:pPr>
                      <a:r>
                        <a:rPr lang="en-US" sz="1200" spc="-20">
                          <a:effectLst/>
                        </a:rPr>
                        <a: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spcBef>
                          <a:spcPts val="50"/>
                        </a:spcBef>
                        <a:buNone/>
                      </a:pPr>
                      <a:r>
                        <a:rPr lang="en-US" sz="1200">
                          <a:effectLst/>
                        </a:rPr>
                        <a:t> </a:t>
                      </a:r>
                      <a:endParaRPr lang="en-IN" sz="1200">
                        <a:effectLst/>
                      </a:endParaRPr>
                    </a:p>
                    <a:p>
                      <a:pPr marL="26670" marR="28575" algn="ctr">
                        <a:buNone/>
                      </a:pPr>
                      <a:r>
                        <a:rPr lang="en-US" sz="1200" spc="-20">
                          <a:effectLst/>
                        </a:rPr>
                        <a:t>2023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marR="307975" algn="just">
                        <a:lnSpc>
                          <a:spcPct val="102000"/>
                        </a:lnSpc>
                        <a:spcBef>
                          <a:spcPts val="25"/>
                        </a:spcBef>
                        <a:buNone/>
                      </a:pPr>
                      <a:r>
                        <a:rPr lang="en-US" sz="1200">
                          <a:effectLst/>
                        </a:rPr>
                        <a:t>DLDO implemented with DVS and LCO mitigation using Verilog-A</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a:spcBef>
                          <a:spcPts val="25"/>
                        </a:spcBef>
                        <a:buNone/>
                      </a:pPr>
                      <a:r>
                        <a:rPr lang="en-US" sz="1200" spc="-10">
                          <a:effectLst/>
                        </a:rPr>
                        <a:t>DVFS,</a:t>
                      </a:r>
                      <a:r>
                        <a:rPr lang="en-US" sz="1200" spc="-30">
                          <a:effectLst/>
                        </a:rPr>
                        <a:t> </a:t>
                      </a:r>
                      <a:r>
                        <a:rPr lang="en-US" sz="1200" spc="-20">
                          <a:effectLst/>
                        </a:rPr>
                        <a:t>PSRR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
                        <a:buNone/>
                      </a:pPr>
                      <a:r>
                        <a:rPr lang="en-US" sz="1200" spc="-20" dirty="0">
                          <a:effectLst/>
                        </a:rPr>
                        <a:t>Output</a:t>
                      </a:r>
                      <a:r>
                        <a:rPr lang="en-US" sz="1200" spc="-40" dirty="0">
                          <a:effectLst/>
                        </a:rPr>
                        <a:t> </a:t>
                      </a:r>
                      <a:r>
                        <a:rPr lang="en-US" sz="1200" spc="-20" dirty="0">
                          <a:effectLst/>
                        </a:rPr>
                        <a:t>ripple reduced</a:t>
                      </a:r>
                      <a:r>
                        <a:rPr lang="en-US" sz="1200" spc="-15" dirty="0">
                          <a:effectLst/>
                        </a:rPr>
                        <a:t> </a:t>
                      </a:r>
                      <a:r>
                        <a:rPr lang="en-US" sz="1200" spc="-25" dirty="0">
                          <a:effectLst/>
                        </a:rPr>
                        <a:t>by</a:t>
                      </a:r>
                      <a:endParaRPr lang="en-IN" sz="1200" dirty="0">
                        <a:effectLst/>
                      </a:endParaRPr>
                    </a:p>
                    <a:p>
                      <a:pPr marL="7620" marR="128270">
                        <a:buNone/>
                      </a:pPr>
                      <a:r>
                        <a:rPr lang="en-US" sz="1200" dirty="0">
                          <a:effectLst/>
                        </a:rPr>
                        <a:t>~20– 30%, stable </a:t>
                      </a:r>
                      <a:r>
                        <a:rPr lang="en-US" sz="1200" spc="-20" dirty="0">
                          <a:effectLst/>
                        </a:rPr>
                        <a:t>operation</a:t>
                      </a:r>
                      <a:r>
                        <a:rPr lang="en-US" sz="1200" spc="-30" dirty="0">
                          <a:effectLst/>
                        </a:rPr>
                        <a:t> </a:t>
                      </a:r>
                      <a:r>
                        <a:rPr lang="en-US" sz="1200" spc="-20" dirty="0">
                          <a:effectLst/>
                        </a:rPr>
                        <a:t>under</a:t>
                      </a:r>
                      <a:r>
                        <a:rPr lang="en-US" sz="1200" spc="-30" dirty="0">
                          <a:effectLst/>
                        </a:rPr>
                        <a:t> </a:t>
                      </a:r>
                      <a:r>
                        <a:rPr lang="en-US" sz="1200" spc="-20" dirty="0">
                          <a:effectLst/>
                        </a:rPr>
                        <a:t>dynamic </a:t>
                      </a:r>
                      <a:r>
                        <a:rPr lang="en-US" sz="1200" spc="-10" dirty="0">
                          <a:effectLst/>
                        </a:rPr>
                        <a:t>loads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91811911"/>
                  </a:ext>
                </a:extLst>
              </a:tr>
            </a:tbl>
          </a:graphicData>
        </a:graphic>
      </p:graphicFrame>
    </p:spTree>
    <p:extLst>
      <p:ext uri="{BB962C8B-B14F-4D97-AF65-F5344CB8AC3E}">
        <p14:creationId xmlns:p14="http://schemas.microsoft.com/office/powerpoint/2010/main" val="87539914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 name="Group 1"/>
          <p:cNvGrpSpPr/>
          <p:nvPr/>
        </p:nvGrpSpPr>
        <p:grpSpPr>
          <a:xfrm>
            <a:off x="0" y="72000"/>
            <a:ext cx="12191760" cy="6785640"/>
            <a:chOff x="0" y="72000"/>
            <a:chExt cx="12191760" cy="6785640"/>
          </a:xfrm>
        </p:grpSpPr>
        <p:pic>
          <p:nvPicPr>
            <p:cNvPr id="172" name="Google Shape;115;p3"/>
            <p:cNvPicPr/>
            <p:nvPr/>
          </p:nvPicPr>
          <p:blipFill>
            <a:blip r:embed="rId3"/>
            <a:stretch/>
          </p:blipFill>
          <p:spPr>
            <a:xfrm>
              <a:off x="11211120" y="72000"/>
              <a:ext cx="830520" cy="809640"/>
            </a:xfrm>
            <a:prstGeom prst="rect">
              <a:avLst/>
            </a:prstGeom>
            <a:ln>
              <a:noFill/>
            </a:ln>
          </p:spPr>
        </p:pic>
        <p:sp>
          <p:nvSpPr>
            <p:cNvPr id="173"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174"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175"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176"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177"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178" name="CustomShape 7"/>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179" name="CustomShape 8"/>
          <p:cNvSpPr/>
          <p:nvPr/>
        </p:nvSpPr>
        <p:spPr>
          <a:xfrm>
            <a:off x="118080" y="1209240"/>
            <a:ext cx="11923560" cy="246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50000"/>
              </a:lnSpc>
            </a:pPr>
            <a:endParaRPr lang="en-IN" sz="1800" b="0" strike="noStrike" spc="-1">
              <a:latin typeface="Arial"/>
            </a:endParaRPr>
          </a:p>
          <a:p>
            <a:pPr algn="just">
              <a:lnSpc>
                <a:spcPct val="150000"/>
              </a:lnSpc>
            </a:pPr>
            <a:endParaRPr lang="en-IN" sz="1800" b="0" strike="noStrike" spc="-1">
              <a:latin typeface="Arial"/>
            </a:endParaRPr>
          </a:p>
          <a:p>
            <a:pPr algn="just">
              <a:lnSpc>
                <a:spcPct val="100000"/>
              </a:lnSpc>
            </a:pPr>
            <a:endParaRPr lang="en-IN" sz="1800" b="0" strike="noStrike" spc="-1">
              <a:latin typeface="Arial"/>
            </a:endParaRPr>
          </a:p>
          <a:p>
            <a:pPr algn="just">
              <a:lnSpc>
                <a:spcPct val="100000"/>
              </a:lnSpc>
            </a:pPr>
            <a:endParaRPr lang="en-IN" sz="1800" b="0" strike="noStrike" spc="-1">
              <a:latin typeface="Arial"/>
            </a:endParaRPr>
          </a:p>
          <a:p>
            <a:pPr>
              <a:lnSpc>
                <a:spcPct val="100000"/>
              </a:lnSpc>
            </a:pPr>
            <a:endParaRPr lang="en-IN" sz="1800" b="0" strike="noStrike" spc="-1">
              <a:latin typeface="Arial"/>
            </a:endParaRPr>
          </a:p>
          <a:p>
            <a:pPr>
              <a:lnSpc>
                <a:spcPct val="100000"/>
              </a:lnSpc>
            </a:pPr>
            <a:endParaRPr lang="en-IN" sz="1800" b="0" strike="noStrike" spc="-1">
              <a:latin typeface="Arial"/>
            </a:endParaRPr>
          </a:p>
        </p:txBody>
      </p:sp>
      <p:sp>
        <p:nvSpPr>
          <p:cNvPr id="180" name="CustomShape 9"/>
          <p:cNvSpPr/>
          <p:nvPr/>
        </p:nvSpPr>
        <p:spPr>
          <a:xfrm>
            <a:off x="1402560" y="30024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dirty="0">
                <a:solidFill>
                  <a:srgbClr val="000000"/>
                </a:solidFill>
                <a:latin typeface="Calibri"/>
                <a:ea typeface="Calibri"/>
              </a:rPr>
              <a:t>                                                                 </a:t>
            </a:r>
            <a:r>
              <a:rPr lang="en-IN" sz="3600" b="1" strike="noStrike" spc="-1" dirty="0">
                <a:solidFill>
                  <a:srgbClr val="000000"/>
                </a:solidFill>
                <a:latin typeface="Times New Roman"/>
                <a:ea typeface="Calibri"/>
              </a:rPr>
              <a:t>PROBLEM STATEMENT</a:t>
            </a:r>
            <a:endParaRPr lang="en-IN" sz="3600" b="0" strike="noStrike" spc="-1" dirty="0">
              <a:latin typeface="Arial"/>
            </a:endParaRPr>
          </a:p>
        </p:txBody>
      </p:sp>
      <p:sp>
        <p:nvSpPr>
          <p:cNvPr id="181" name="CustomShape 10"/>
          <p:cNvSpPr/>
          <p:nvPr/>
        </p:nvSpPr>
        <p:spPr>
          <a:xfrm>
            <a:off x="281520" y="1074600"/>
            <a:ext cx="11491200" cy="435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algn="just">
              <a:lnSpc>
                <a:spcPct val="100000"/>
              </a:lnSpc>
            </a:pPr>
            <a:endParaRPr lang="en-IN" sz="1800" b="0" strike="noStrike" spc="-1" dirty="0">
              <a:latin typeface="Arial"/>
            </a:endParaRPr>
          </a:p>
          <a:p>
            <a:pPr marL="285750" indent="-285750" algn="just">
              <a:lnSpc>
                <a:spcPct val="100000"/>
              </a:lnSpc>
              <a:buFont typeface="Wingdings" panose="05000000000000000000" pitchFamily="2" charset="2"/>
              <a:buChar char="§"/>
            </a:pPr>
            <a:endParaRPr lang="en-IN" sz="1800" b="0" strike="noStrike" spc="-1" dirty="0">
              <a:latin typeface="Arial"/>
            </a:endParaRPr>
          </a:p>
          <a:p>
            <a:pPr marL="285750" indent="-285750" algn="just">
              <a:lnSpc>
                <a:spcPct val="100000"/>
              </a:lnSpc>
              <a:buFont typeface="Wingdings" panose="05000000000000000000" pitchFamily="2" charset="2"/>
              <a:buChar char="§"/>
            </a:pPr>
            <a:endParaRPr lang="en-IN" sz="1800" b="0" strike="noStrike" spc="-1" dirty="0">
              <a:latin typeface="Arial"/>
            </a:endParaRPr>
          </a:p>
        </p:txBody>
      </p:sp>
      <p:sp>
        <p:nvSpPr>
          <p:cNvPr id="2" name="TextBox 1">
            <a:extLst>
              <a:ext uri="{FF2B5EF4-FFF2-40B4-BE49-F238E27FC236}">
                <a16:creationId xmlns:a16="http://schemas.microsoft.com/office/drawing/2014/main" id="{1B6377B7-B32B-4115-8995-F04E655A519A}"/>
              </a:ext>
            </a:extLst>
          </p:cNvPr>
          <p:cNvSpPr txBox="1"/>
          <p:nvPr/>
        </p:nvSpPr>
        <p:spPr>
          <a:xfrm>
            <a:off x="394683" y="1475280"/>
            <a:ext cx="11370353" cy="4247317"/>
          </a:xfrm>
          <a:prstGeom prst="rect">
            <a:avLst/>
          </a:prstGeom>
          <a:noFill/>
        </p:spPr>
        <p:txBody>
          <a:bodyPr wrap="square" rtlCol="0">
            <a:spAutoFit/>
          </a:bodyPr>
          <a:lstStyle/>
          <a:p>
            <a:r>
              <a:rPr lang="en-US" sz="2400" dirty="0">
                <a:latin typeface="Time NEW ROMAN"/>
              </a:rPr>
              <a:t>Design an efficient low-power digital circuit to enhance battery life and reduce processor heating</a:t>
            </a:r>
          </a:p>
          <a:p>
            <a:endParaRPr lang="en-US" sz="2400" dirty="0">
              <a:latin typeface="Time NEW ROMAN"/>
            </a:endParaRPr>
          </a:p>
          <a:p>
            <a:endParaRPr lang="en-US" dirty="0">
              <a:latin typeface="Time NEW ROMAN"/>
            </a:endParaRPr>
          </a:p>
          <a:p>
            <a:endParaRPr lang="en-US" dirty="0">
              <a:latin typeface="Time NEW ROMAN"/>
            </a:endParaRPr>
          </a:p>
          <a:p>
            <a:pPr marL="285750" indent="-285750">
              <a:buFont typeface="Wingdings" panose="05000000000000000000" pitchFamily="2" charset="2"/>
              <a:buChar char="Ø"/>
            </a:pPr>
            <a:r>
              <a:rPr lang="en-US" dirty="0">
                <a:latin typeface="Time NEW ROMAN"/>
              </a:rPr>
              <a:t>The problem focuses on designing low-power digital circuits that effectively minimize both dynamic and static power consumption while maintaining desired performance levels. </a:t>
            </a:r>
          </a:p>
          <a:p>
            <a:pPr marL="285750" indent="-285750">
              <a:buFont typeface="Wingdings" panose="05000000000000000000" pitchFamily="2" charset="2"/>
              <a:buChar char="Ø"/>
            </a:pPr>
            <a:endParaRPr lang="en-US" dirty="0">
              <a:latin typeface="Time NEW ROMAN"/>
            </a:endParaRPr>
          </a:p>
          <a:p>
            <a:pPr marL="285750" indent="-285750">
              <a:buFont typeface="Wingdings" panose="05000000000000000000" pitchFamily="2" charset="2"/>
              <a:buChar char="Ø"/>
            </a:pPr>
            <a:r>
              <a:rPr lang="en-US" dirty="0">
                <a:latin typeface="Time NEW ROMAN"/>
              </a:rPr>
              <a:t>The goal is to extend the overall battery lifespan and ensure efficient energy usage. This research problem aims to develop optimized circuit design methodologies that balance power, performance, and thermal constraints, ultimately resulting in energy-efficient, reliable, and sustainable digital systems.</a:t>
            </a:r>
          </a:p>
          <a:p>
            <a:endParaRPr lang="en-US" dirty="0">
              <a:latin typeface="Time NEW ROMAN"/>
            </a:endParaRPr>
          </a:p>
          <a:p>
            <a:endParaRPr lang="en-US" dirty="0">
              <a:latin typeface="Time NEW ROMAN"/>
            </a:endParaRPr>
          </a:p>
          <a:p>
            <a:endParaRPr lang="en-IN" dirty="0">
              <a:latin typeface="Time NEW ROMAN"/>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Shape 1"/>
          <p:cNvSpPr txBox="1"/>
          <p:nvPr/>
        </p:nvSpPr>
        <p:spPr>
          <a:xfrm>
            <a:off x="2471567" y="282780"/>
            <a:ext cx="7641360" cy="83052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Calibri"/>
              </a:rPr>
              <a:t>OBJECTIVES</a:t>
            </a:r>
            <a:br>
              <a:rPr dirty="0"/>
            </a:br>
            <a:endParaRPr lang="en-IN" sz="3200" b="0" strike="noStrike" spc="-1" dirty="0">
              <a:solidFill>
                <a:srgbClr val="000000"/>
              </a:solidFill>
              <a:latin typeface="Arial"/>
            </a:endParaRPr>
          </a:p>
        </p:txBody>
      </p:sp>
      <p:sp>
        <p:nvSpPr>
          <p:cNvPr id="185" name="CustomShape 3"/>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86" name="Group 4"/>
          <p:cNvGrpSpPr/>
          <p:nvPr/>
        </p:nvGrpSpPr>
        <p:grpSpPr>
          <a:xfrm>
            <a:off x="0" y="72000"/>
            <a:ext cx="12191760" cy="6785640"/>
            <a:chOff x="0" y="72000"/>
            <a:chExt cx="12191760" cy="6785640"/>
          </a:xfrm>
        </p:grpSpPr>
        <p:pic>
          <p:nvPicPr>
            <p:cNvPr id="187" name="Google Shape;115;p3"/>
            <p:cNvPicPr/>
            <p:nvPr/>
          </p:nvPicPr>
          <p:blipFill>
            <a:blip r:embed="rId2"/>
            <a:stretch/>
          </p:blipFill>
          <p:spPr>
            <a:xfrm>
              <a:off x="11211120" y="72000"/>
              <a:ext cx="830520" cy="809640"/>
            </a:xfrm>
            <a:prstGeom prst="rect">
              <a:avLst/>
            </a:prstGeom>
            <a:ln>
              <a:noFill/>
            </a:ln>
          </p:spPr>
        </p:pic>
        <p:sp>
          <p:nvSpPr>
            <p:cNvPr id="188" name="CustomShape 5"/>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189" name="CustomShape 6"/>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190" name="CustomShape 7"/>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191" name="CustomShape 8"/>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192" name="CustomShape 9"/>
          <p:cNvSpPr/>
          <p:nvPr/>
        </p:nvSpPr>
        <p:spPr>
          <a:xfrm>
            <a:off x="374220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sp>
        <p:nvSpPr>
          <p:cNvPr id="2" name="TextBox 1">
            <a:extLst>
              <a:ext uri="{FF2B5EF4-FFF2-40B4-BE49-F238E27FC236}">
                <a16:creationId xmlns:a16="http://schemas.microsoft.com/office/drawing/2014/main" id="{EC0D508F-B50C-4B5F-866D-BA20A79533D4}"/>
              </a:ext>
            </a:extLst>
          </p:cNvPr>
          <p:cNvSpPr txBox="1"/>
          <p:nvPr/>
        </p:nvSpPr>
        <p:spPr>
          <a:xfrm>
            <a:off x="361635" y="989111"/>
            <a:ext cx="11056553" cy="4708981"/>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 NEW ROMAN"/>
              </a:rPr>
              <a:t>To design and implement digital circuits with reduced power consumption by applying low-power design techniques such as PSRR, DVFS, Power </a:t>
            </a:r>
            <a:r>
              <a:rPr lang="en-IN" sz="2000" dirty="0">
                <a:latin typeface="Time NEW ROMAN"/>
              </a:rPr>
              <a:t>analysis.</a:t>
            </a:r>
            <a:endParaRPr lang="en-US" sz="2000" dirty="0">
              <a:latin typeface="Time NEW ROMAN"/>
            </a:endParaRPr>
          </a:p>
          <a:p>
            <a:pPr marL="285750" indent="-285750">
              <a:buFont typeface="Wingdings" panose="05000000000000000000" pitchFamily="2" charset="2"/>
              <a:buChar char="Ø"/>
            </a:pPr>
            <a:endParaRPr lang="en-US" sz="2000" dirty="0">
              <a:latin typeface="Time NEW ROMAN"/>
            </a:endParaRPr>
          </a:p>
          <a:p>
            <a:pPr marL="285750" indent="-285750">
              <a:buFont typeface="Wingdings" panose="05000000000000000000" pitchFamily="2" charset="2"/>
              <a:buChar char="Ø"/>
            </a:pPr>
            <a:r>
              <a:rPr lang="en-US" sz="2000" dirty="0">
                <a:latin typeface="Time NEW ROMAN"/>
              </a:rPr>
              <a:t>We are using 45nm technology, for the </a:t>
            </a:r>
            <a:r>
              <a:rPr lang="en-IN" sz="2000" dirty="0">
                <a:latin typeface="Time NEW ROMAN"/>
              </a:rPr>
              <a:t>implementation.</a:t>
            </a:r>
          </a:p>
          <a:p>
            <a:pPr marL="285750" indent="-285750">
              <a:buFont typeface="Wingdings" panose="05000000000000000000" pitchFamily="2" charset="2"/>
              <a:buChar char="Ø"/>
            </a:pPr>
            <a:endParaRPr lang="en-US" sz="2000" dirty="0">
              <a:latin typeface="Time NEW ROMAN"/>
            </a:endParaRPr>
          </a:p>
          <a:p>
            <a:pPr marL="285750" indent="-285750">
              <a:buFont typeface="Wingdings" panose="05000000000000000000" pitchFamily="2" charset="2"/>
              <a:buChar char="Ø"/>
            </a:pPr>
            <a:r>
              <a:rPr lang="en-US" sz="2000" dirty="0">
                <a:latin typeface="Time NEW ROMAN"/>
              </a:rPr>
              <a:t>The performance of the DLDO is limited by slow transient response and limited dynamic range.</a:t>
            </a:r>
          </a:p>
          <a:p>
            <a:endParaRPr lang="en-US" sz="2000" dirty="0">
              <a:latin typeface="Time NEW ROMAN"/>
            </a:endParaRPr>
          </a:p>
          <a:p>
            <a:pPr marL="285750" indent="-285750">
              <a:buFont typeface="Wingdings" panose="05000000000000000000" pitchFamily="2" charset="2"/>
              <a:buChar char="Ø"/>
            </a:pPr>
            <a:r>
              <a:rPr lang="en-US" sz="2000" dirty="0">
                <a:latin typeface="Time NEW ROMAN"/>
              </a:rPr>
              <a:t>The proposed design minimizes power losses and reduces the quiescent current as it operates in the idle mode by reducing the power losses. </a:t>
            </a:r>
          </a:p>
          <a:p>
            <a:pPr marL="285750" indent="-285750">
              <a:buFont typeface="Wingdings" panose="05000000000000000000" pitchFamily="2" charset="2"/>
              <a:buChar char="Ø"/>
            </a:pPr>
            <a:endParaRPr lang="en-US" sz="2000" dirty="0">
              <a:latin typeface="Time NEW ROMAN"/>
            </a:endParaRPr>
          </a:p>
          <a:p>
            <a:pPr marL="285750" indent="-285750">
              <a:buFont typeface="Wingdings" panose="05000000000000000000" pitchFamily="2" charset="2"/>
              <a:buChar char="Ø"/>
            </a:pPr>
            <a:r>
              <a:rPr lang="en-US" sz="2000" dirty="0">
                <a:latin typeface="Time NEW ROMAN"/>
              </a:rPr>
              <a:t>To design the circuit-level implementation in Cadence Virtuoso, including the pass transistor, comparator, and control logic blocks.</a:t>
            </a:r>
          </a:p>
          <a:p>
            <a:pPr marL="285750" indent="-285750">
              <a:buFont typeface="Wingdings" panose="05000000000000000000" pitchFamily="2" charset="2"/>
              <a:buChar char="Ø"/>
            </a:pPr>
            <a:endParaRPr lang="en-US" sz="2000" dirty="0">
              <a:latin typeface="Time NEW ROMAN"/>
            </a:endParaRPr>
          </a:p>
          <a:p>
            <a:pPr marL="285750" indent="-285750">
              <a:buFont typeface="Wingdings" panose="05000000000000000000" pitchFamily="2" charset="2"/>
              <a:buChar char="Ø"/>
            </a:pPr>
            <a:r>
              <a:rPr lang="en-US" sz="2000" dirty="0">
                <a:latin typeface="Time NEW ROMAN"/>
              </a:rPr>
              <a:t>To design and implement a Digital Low Dropout Regulator (DLDO) capable of providing a stable and regulated output voltage for low-power electronic applications.</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Shape 1"/>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8</a:t>
            </a:fld>
            <a:endParaRPr lang="en-IN" sz="1200" b="0" strike="noStrike" spc="-1">
              <a:latin typeface="Times New Roman"/>
            </a:endParaRPr>
          </a:p>
        </p:txBody>
      </p:sp>
      <p:sp>
        <p:nvSpPr>
          <p:cNvPr id="197" name="CustomShape 3"/>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p:cNvGrpSpPr/>
          <p:nvPr/>
        </p:nvGrpSpPr>
        <p:grpSpPr>
          <a:xfrm>
            <a:off x="0" y="72000"/>
            <a:ext cx="12191760" cy="6785640"/>
            <a:chOff x="0" y="72000"/>
            <a:chExt cx="12191760" cy="6785640"/>
          </a:xfrm>
        </p:grpSpPr>
        <p:pic>
          <p:nvPicPr>
            <p:cNvPr id="199" name="Google Shape;115;p3"/>
            <p:cNvPicPr/>
            <p:nvPr/>
          </p:nvPicPr>
          <p:blipFill>
            <a:blip r:embed="rId2"/>
            <a:stretch/>
          </p:blipFill>
          <p:spPr>
            <a:xfrm>
              <a:off x="11211120" y="72000"/>
              <a:ext cx="830520" cy="809640"/>
            </a:xfrm>
            <a:prstGeom prst="rect">
              <a:avLst/>
            </a:prstGeom>
            <a:ln>
              <a:noFill/>
            </a:ln>
          </p:spPr>
        </p:pic>
        <p:sp>
          <p:nvSpPr>
            <p:cNvPr id="200" name="CustomShape 5"/>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pic>
        <p:nvPicPr>
          <p:cNvPr id="2" name="Picture 1">
            <a:extLst>
              <a:ext uri="{FF2B5EF4-FFF2-40B4-BE49-F238E27FC236}">
                <a16:creationId xmlns:a16="http://schemas.microsoft.com/office/drawing/2014/main" id="{3E4514FA-CA89-F9D6-FEAC-5EEE04B71986}"/>
              </a:ext>
            </a:extLst>
          </p:cNvPr>
          <p:cNvPicPr>
            <a:picLocks noChangeAspect="1"/>
          </p:cNvPicPr>
          <p:nvPr/>
        </p:nvPicPr>
        <p:blipFill>
          <a:blip r:embed="rId3"/>
          <a:stretch>
            <a:fillRect/>
          </a:stretch>
        </p:blipFill>
        <p:spPr>
          <a:xfrm>
            <a:off x="3851088" y="1388532"/>
            <a:ext cx="4797968" cy="4962227"/>
          </a:xfrm>
          <a:prstGeom prst="rect">
            <a:avLst/>
          </a:prstGeom>
        </p:spPr>
      </p:pic>
      <p:sp>
        <p:nvSpPr>
          <p:cNvPr id="6" name="TextBox 5">
            <a:extLst>
              <a:ext uri="{FF2B5EF4-FFF2-40B4-BE49-F238E27FC236}">
                <a16:creationId xmlns:a16="http://schemas.microsoft.com/office/drawing/2014/main" id="{7985CF35-46BE-615C-7CF0-27A6357A3E9A}"/>
              </a:ext>
            </a:extLst>
          </p:cNvPr>
          <p:cNvSpPr txBox="1"/>
          <p:nvPr/>
        </p:nvSpPr>
        <p:spPr>
          <a:xfrm>
            <a:off x="321733" y="981197"/>
            <a:ext cx="2506134" cy="400110"/>
          </a:xfrm>
          <a:prstGeom prst="rect">
            <a:avLst/>
          </a:prstGeom>
          <a:noFill/>
        </p:spPr>
        <p:txBody>
          <a:bodyPr wrap="square">
            <a:spAutoFit/>
          </a:bodyPr>
          <a:lstStyle/>
          <a:p>
            <a:pPr>
              <a:spcBef>
                <a:spcPts val="530"/>
              </a:spcBef>
              <a:buNone/>
            </a:pPr>
            <a:r>
              <a:rPr lang="en-US" sz="2000" b="1" spc="0" dirty="0">
                <a:effectLst/>
                <a:latin typeface="Times New Roman" panose="02020603050405020304" pitchFamily="18" charset="0"/>
                <a:ea typeface="Times New Roman" panose="02020603050405020304" pitchFamily="18" charset="0"/>
              </a:rPr>
              <a:t>Flowchart</a:t>
            </a:r>
            <a:r>
              <a:rPr lang="en-US" sz="2000" b="1" spc="-65" dirty="0">
                <a:effectLst/>
                <a:latin typeface="Times New Roman" panose="02020603050405020304" pitchFamily="18" charset="0"/>
                <a:ea typeface="Times New Roman" panose="02020603050405020304" pitchFamily="18" charset="0"/>
              </a:rPr>
              <a:t> </a:t>
            </a:r>
            <a:r>
              <a:rPr lang="en-US" sz="2000" b="1" spc="0" dirty="0">
                <a:effectLst/>
                <a:latin typeface="Times New Roman" panose="02020603050405020304" pitchFamily="18" charset="0"/>
                <a:ea typeface="Times New Roman" panose="02020603050405020304" pitchFamily="18" charset="0"/>
              </a:rPr>
              <a:t>of</a:t>
            </a:r>
            <a:r>
              <a:rPr lang="en-US" sz="2000" b="1" spc="-45" dirty="0">
                <a:effectLst/>
                <a:latin typeface="Times New Roman" panose="02020603050405020304" pitchFamily="18" charset="0"/>
                <a:ea typeface="Times New Roman" panose="02020603050405020304" pitchFamily="18" charset="0"/>
              </a:rPr>
              <a:t> </a:t>
            </a:r>
            <a:r>
              <a:rPr lang="en-US" sz="2000" b="1" spc="-20" dirty="0">
                <a:effectLst/>
                <a:latin typeface="Times New Roman" panose="02020603050405020304" pitchFamily="18" charset="0"/>
                <a:ea typeface="Times New Roman" panose="02020603050405020304" pitchFamily="18" charset="0"/>
              </a:rPr>
              <a:t>DLDO</a:t>
            </a:r>
            <a:endParaRPr lang="en-IN" sz="2000" b="1" spc="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833B-59B7-B5B1-55E1-ABBFE6992EEB}"/>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CCFB12C9-4F49-81A0-B2C3-A0EC77F210FC}"/>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0589ECDF-42B2-A0FD-46B0-2317D2985E9E}"/>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9</a:t>
            </a:fld>
            <a:endParaRPr lang="en-IN" sz="1200" b="0" strike="noStrike" spc="-1">
              <a:latin typeface="Times New Roman"/>
            </a:endParaRPr>
          </a:p>
        </p:txBody>
      </p:sp>
      <p:sp>
        <p:nvSpPr>
          <p:cNvPr id="197" name="CustomShape 3">
            <a:extLst>
              <a:ext uri="{FF2B5EF4-FFF2-40B4-BE49-F238E27FC236}">
                <a16:creationId xmlns:a16="http://schemas.microsoft.com/office/drawing/2014/main" id="{994BC036-5603-2A5E-0BB5-93F526B13506}"/>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46B978BF-634D-BD14-67C9-A966C1E3B3EF}"/>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2BA07845-6B30-7678-C721-9EE2271C23BD}"/>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4804F220-DF4A-1C47-35ED-5349BC88E4FE}"/>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622F1BDB-1B86-C42F-61B8-8C0FF66822E1}"/>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4C5A145C-A4FA-9B82-FC25-AB8F71CC3FA2}"/>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39D7C0C3-53AB-E6D4-C5E6-5328DF136CF5}"/>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A7727264-E3A2-9795-6D0E-0FA164232069}"/>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sp>
        <p:nvSpPr>
          <p:cNvPr id="4" name="TextBox 3">
            <a:extLst>
              <a:ext uri="{FF2B5EF4-FFF2-40B4-BE49-F238E27FC236}">
                <a16:creationId xmlns:a16="http://schemas.microsoft.com/office/drawing/2014/main" id="{BEDFF3BA-FABC-633C-965A-D85A7FBDC14F}"/>
              </a:ext>
            </a:extLst>
          </p:cNvPr>
          <p:cNvSpPr txBox="1"/>
          <p:nvPr/>
        </p:nvSpPr>
        <p:spPr>
          <a:xfrm>
            <a:off x="332910" y="981360"/>
            <a:ext cx="11581650" cy="5321393"/>
          </a:xfrm>
          <a:prstGeom prst="rect">
            <a:avLst/>
          </a:prstGeom>
          <a:noFill/>
        </p:spPr>
        <p:txBody>
          <a:bodyPr wrap="square">
            <a:spAutoFit/>
          </a:bodyPr>
          <a:lstStyle/>
          <a:p>
            <a:pPr marL="228600" marR="485775" algn="just">
              <a:lnSpc>
                <a:spcPct val="150000"/>
              </a:lnSpc>
              <a:buNone/>
            </a:pPr>
            <a:r>
              <a:rPr lang="en-US" sz="1200" dirty="0">
                <a:effectLst/>
                <a:latin typeface="Times New Roman" panose="02020603050405020304" pitchFamily="18" charset="0"/>
                <a:ea typeface="Times New Roman" panose="02020603050405020304" pitchFamily="18" charset="0"/>
              </a:rPr>
              <a:t>The flowchart shows fig [5.1] the design and verification process of a low-power digital system (for example, a DLDO) from the concept stage to the actual hardware stage.</a:t>
            </a:r>
            <a:endParaRPr lang="en-IN" sz="1200" dirty="0">
              <a:effectLst/>
              <a:latin typeface="Times New Roman" panose="02020603050405020304" pitchFamily="18" charset="0"/>
              <a:ea typeface="Times New Roman" panose="02020603050405020304" pitchFamily="18" charset="0"/>
            </a:endParaRPr>
          </a:p>
          <a:p>
            <a:pPr marL="228600" marR="489585" algn="just">
              <a:lnSpc>
                <a:spcPct val="150000"/>
              </a:lnSpc>
              <a:buNone/>
            </a:pPr>
            <a:r>
              <a:rPr lang="en-US" sz="1200" dirty="0">
                <a:effectLst/>
                <a:latin typeface="Times New Roman" panose="02020603050405020304" pitchFamily="18" charset="0"/>
                <a:ea typeface="Times New Roman" panose="02020603050405020304" pitchFamily="18" charset="0"/>
              </a:rPr>
              <a:t>The very first step to do is defining a device by determining its power requirements and writing specifications such as voltage levels, load, and performance constraints. Voltage reference(</a:t>
            </a:r>
            <a:r>
              <a:rPr lang="en-US" sz="1200" dirty="0" err="1">
                <a:effectLst/>
                <a:latin typeface="Times New Roman" panose="02020603050405020304" pitchFamily="18" charset="0"/>
                <a:ea typeface="Times New Roman" panose="02020603050405020304" pitchFamily="18" charset="0"/>
              </a:rPr>
              <a:t>vref</a:t>
            </a:r>
            <a:r>
              <a:rPr lang="en-US" sz="1200" dirty="0">
                <a:effectLst/>
                <a:latin typeface="Times New Roman" panose="02020603050405020304" pitchFamily="18" charset="0"/>
                <a:ea typeface="Times New Roman" panose="02020603050405020304" pitchFamily="18" charset="0"/>
              </a:rPr>
              <a:t>) =1V, 0.8V, 0.6Va, 0.4V ,0.2V. Voltage Input (vin) =1V, 0.8V, 0.6V, 0.4V, 0.2V. Frequency(f)=10Mhz.and Parameters like Quiescent Current, PSRR, Settling time, Overshoot time.</a:t>
            </a:r>
            <a:endParaRPr lang="en-IN" sz="1200" dirty="0">
              <a:effectLst/>
              <a:latin typeface="Times New Roman" panose="02020603050405020304" pitchFamily="18" charset="0"/>
              <a:ea typeface="Times New Roman" panose="02020603050405020304" pitchFamily="18" charset="0"/>
            </a:endParaRPr>
          </a:p>
          <a:p>
            <a:pPr marL="228600" marR="477520" algn="just">
              <a:lnSpc>
                <a:spcPct val="150000"/>
              </a:lnSpc>
              <a:buNone/>
            </a:pPr>
            <a:r>
              <a:rPr lang="en-US" sz="1200" dirty="0">
                <a:effectLst/>
                <a:latin typeface="Times New Roman" panose="02020603050405020304" pitchFamily="18" charset="0"/>
                <a:ea typeface="Times New Roman" panose="02020603050405020304" pitchFamily="18" charset="0"/>
              </a:rPr>
              <a:t>The immediate next steps after a set of requirements are architectural design</a:t>
            </a:r>
            <a:r>
              <a:rPr lang="en-US" sz="1200" spc="20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 exploration. The</a:t>
            </a:r>
            <a:r>
              <a:rPr lang="en-US" sz="1200" spc="1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goal of this process will be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 produce an architectural design that would have an optimum balance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power, performance, and area. Architectural Design consists of</a:t>
            </a:r>
            <a:r>
              <a:rPr lang="en-US" sz="1200" spc="20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Three main blocks Comparator, Shift Register, P-MOS array.</a:t>
            </a:r>
            <a:endParaRPr lang="en-IN" sz="1200" dirty="0">
              <a:effectLst/>
              <a:latin typeface="Times New Roman" panose="02020603050405020304" pitchFamily="18" charset="0"/>
              <a:ea typeface="Times New Roman" panose="02020603050405020304" pitchFamily="18" charset="0"/>
            </a:endParaRPr>
          </a:p>
          <a:p>
            <a:pPr marL="228600" marR="482600" algn="just">
              <a:lnSpc>
                <a:spcPct val="150000"/>
              </a:lnSpc>
              <a:spcBef>
                <a:spcPts val="20"/>
              </a:spcBef>
              <a:buNone/>
            </a:pPr>
            <a:r>
              <a:rPr lang="en-US" sz="1200" dirty="0">
                <a:effectLst/>
                <a:latin typeface="Times New Roman" panose="02020603050405020304" pitchFamily="18" charset="0"/>
                <a:ea typeface="Times New Roman" panose="02020603050405020304" pitchFamily="18" charset="0"/>
              </a:rPr>
              <a:t>At the system-level design stage, behavior modeling, and simulation of the system with MATLAB Simulink</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performed</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verify</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dynamic</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performance.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design</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performance</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will</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sub-</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targets; hence,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architecture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parameters</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will</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changed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accordingly.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System</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Level</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Modelling</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consists</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 Quantizer, Controlled Voltage Source and PID Controller. Voltage reference(</a:t>
            </a:r>
            <a:r>
              <a:rPr lang="en-US" sz="1200" dirty="0" err="1">
                <a:effectLst/>
                <a:latin typeface="Times New Roman" panose="02020603050405020304" pitchFamily="18" charset="0"/>
                <a:ea typeface="Times New Roman" panose="02020603050405020304" pitchFamily="18" charset="0"/>
              </a:rPr>
              <a:t>vref</a:t>
            </a:r>
            <a:r>
              <a:rPr lang="en-US" sz="1200" dirty="0">
                <a:effectLst/>
                <a:latin typeface="Times New Roman" panose="02020603050405020304" pitchFamily="18" charset="0"/>
                <a:ea typeface="Times New Roman" panose="02020603050405020304" pitchFamily="18" charset="0"/>
              </a:rPr>
              <a:t>) = 1,0.8,0.6,0.4,0.2, Resistance (</a:t>
            </a:r>
            <a:r>
              <a:rPr lang="en-US" sz="1200" dirty="0" err="1">
                <a:effectLst/>
                <a:latin typeface="Times New Roman" panose="02020603050405020304" pitchFamily="18" charset="0"/>
                <a:ea typeface="Times New Roman" panose="02020603050405020304" pitchFamily="18" charset="0"/>
              </a:rPr>
              <a:t>Kohms</a:t>
            </a:r>
            <a:r>
              <a:rPr lang="en-US" sz="1200" dirty="0">
                <a:effectLst/>
                <a:latin typeface="Times New Roman" panose="02020603050405020304" pitchFamily="18" charset="0"/>
                <a:ea typeface="Times New Roman" panose="02020603050405020304" pitchFamily="18" charset="0"/>
              </a:rPr>
              <a:t>) = 10,20,30,40,50 and Capacitance(</a:t>
            </a:r>
            <a:r>
              <a:rPr lang="en-US" sz="1200" dirty="0" err="1">
                <a:effectLst/>
                <a:latin typeface="Times New Roman" panose="02020603050405020304" pitchFamily="18" charset="0"/>
                <a:ea typeface="Times New Roman" panose="02020603050405020304" pitchFamily="18" charset="0"/>
              </a:rPr>
              <a:t>uf</a:t>
            </a:r>
            <a:r>
              <a:rPr lang="en-US" sz="1200" dirty="0">
                <a:effectLst/>
                <a:latin typeface="Times New Roman" panose="02020603050405020304" pitchFamily="18" charset="0"/>
                <a:ea typeface="Times New Roman" panose="02020603050405020304" pitchFamily="18" charset="0"/>
              </a:rPr>
              <a:t>) = 10,20,30,40,50.</a:t>
            </a:r>
            <a:endParaRPr lang="en-IN" sz="1200" dirty="0">
              <a:effectLst/>
              <a:latin typeface="Times New Roman" panose="02020603050405020304" pitchFamily="18" charset="0"/>
              <a:ea typeface="Times New Roman" panose="02020603050405020304" pitchFamily="18" charset="0"/>
            </a:endParaRPr>
          </a:p>
          <a:p>
            <a:pPr>
              <a:spcBef>
                <a:spcPts val="680"/>
              </a:spcBef>
              <a:buNone/>
            </a:pPr>
            <a:r>
              <a:rPr lang="en-US" sz="12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228600" marR="483870" algn="just">
              <a:lnSpc>
                <a:spcPct val="150000"/>
              </a:lnSpc>
              <a:buNone/>
            </a:pPr>
            <a:r>
              <a:rPr lang="en-US" sz="1200" dirty="0">
                <a:effectLst/>
                <a:latin typeface="Times New Roman" panose="02020603050405020304" pitchFamily="18" charset="0"/>
                <a:ea typeface="Times New Roman" panose="02020603050405020304" pitchFamily="18" charset="0"/>
              </a:rPr>
              <a:t>The next step after obtaining system-level targets is logic and RTL design, local and by circuit-level confirmation with Cadence Virtuoso. Here RTL code id used to create the blocks which were used in architectural design.</a:t>
            </a:r>
            <a:endParaRPr lang="en-IN" sz="1200" dirty="0">
              <a:effectLst/>
              <a:latin typeface="Times New Roman" panose="02020603050405020304" pitchFamily="18" charset="0"/>
              <a:ea typeface="Times New Roman" panose="02020603050405020304" pitchFamily="18" charset="0"/>
            </a:endParaRPr>
          </a:p>
          <a:p>
            <a:pPr marL="228600" marR="482600" algn="just">
              <a:lnSpc>
                <a:spcPct val="150000"/>
              </a:lnSpc>
              <a:spcBef>
                <a:spcPts val="5"/>
              </a:spcBef>
              <a:buNone/>
            </a:pPr>
            <a:r>
              <a:rPr lang="en-US" sz="1200" dirty="0">
                <a:effectLst/>
                <a:latin typeface="Times New Roman" panose="02020603050405020304" pitchFamily="18" charset="0"/>
                <a:ea typeface="Times New Roman" panose="02020603050405020304" pitchFamily="18" charset="0"/>
              </a:rPr>
              <a:t>Low-power synthesis and optimization techniques are still being employed to keep the design energy- efficient. Techniques were used DVFS (Dynamic Voltage Frequency Scaling) for the Power calculated in circuit design.</a:t>
            </a:r>
            <a:endParaRPr lang="en-IN" sz="1200" dirty="0">
              <a:effectLst/>
              <a:latin typeface="Times New Roman" panose="02020603050405020304" pitchFamily="18" charset="0"/>
              <a:ea typeface="Times New Roman" panose="02020603050405020304" pitchFamily="18" charset="0"/>
            </a:endParaRPr>
          </a:p>
          <a:p>
            <a:pPr marL="228600" marR="486410" algn="just">
              <a:lnSpc>
                <a:spcPct val="150000"/>
              </a:lnSpc>
              <a:spcBef>
                <a:spcPts val="20"/>
              </a:spcBef>
              <a:buNone/>
            </a:pPr>
            <a:r>
              <a:rPr lang="en-US" sz="1200" dirty="0">
                <a:effectLst/>
                <a:latin typeface="Times New Roman" panose="02020603050405020304" pitchFamily="18" charset="0"/>
                <a:ea typeface="Times New Roman" panose="02020603050405020304" pitchFamily="18" charset="0"/>
              </a:rPr>
              <a:t>Presently,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power</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analysis,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verification are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being</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done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alongside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main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parameters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recording</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such as power dissipation, PSRR, quiescent current, and operating frequency.</a:t>
            </a:r>
            <a:endParaRPr lang="en-IN" sz="1200" dirty="0">
              <a:effectLst/>
              <a:latin typeface="Times New Roman" panose="02020603050405020304" pitchFamily="18" charset="0"/>
              <a:ea typeface="Times New Roman" panose="02020603050405020304" pitchFamily="18" charset="0"/>
            </a:endParaRPr>
          </a:p>
          <a:p>
            <a:pPr marL="228600" marR="492125" algn="just">
              <a:lnSpc>
                <a:spcPct val="151000"/>
              </a:lnSpc>
              <a:buNone/>
            </a:pPr>
            <a:r>
              <a:rPr lang="en-US" sz="1200" dirty="0">
                <a:effectLst/>
                <a:latin typeface="Times New Roman" panose="02020603050405020304" pitchFamily="18" charset="0"/>
                <a:ea typeface="Times New Roman" panose="02020603050405020304" pitchFamily="18" charset="0"/>
              </a:rPr>
              <a:t>Besides, the implementation and the measured parameters are being very thoroughly checked for their </a:t>
            </a:r>
            <a:r>
              <a:rPr lang="en-US" sz="1200" spc="-10" dirty="0">
                <a:effectLst/>
                <a:latin typeface="Times New Roman" panose="02020603050405020304" pitchFamily="18" charset="0"/>
                <a:ea typeface="Times New Roman" panose="02020603050405020304" pitchFamily="18" charset="0"/>
              </a:rPr>
              <a:t>correctness.</a:t>
            </a:r>
            <a:endParaRPr lang="en-IN" sz="1200" dirty="0">
              <a:effectLst/>
              <a:latin typeface="Times New Roman" panose="02020603050405020304" pitchFamily="18" charset="0"/>
              <a:ea typeface="Times New Roman" panose="02020603050405020304" pitchFamily="18" charset="0"/>
            </a:endParaRPr>
          </a:p>
          <a:p>
            <a:pPr marL="228600" marR="480695" algn="just">
              <a:lnSpc>
                <a:spcPct val="150000"/>
              </a:lnSpc>
              <a:buNone/>
            </a:pPr>
            <a:r>
              <a:rPr lang="en-US" sz="1200" dirty="0">
                <a:effectLst/>
                <a:latin typeface="Times New Roman" panose="02020603050405020304" pitchFamily="18" charset="0"/>
                <a:ea typeface="Times New Roman" panose="02020603050405020304" pitchFamily="18" charset="0"/>
              </a:rPr>
              <a:t>In</a:t>
            </a:r>
            <a:r>
              <a:rPr lang="en-US" sz="1200" spc="1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case</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design</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operates</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as</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per</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analysis</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performance</a:t>
            </a:r>
            <a:r>
              <a:rPr lang="en-US" sz="1200" spc="1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requirements,</a:t>
            </a:r>
            <a:r>
              <a:rPr lang="en-US" sz="1200" spc="18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it</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may</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1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allowed</a:t>
            </a:r>
            <a:r>
              <a:rPr lang="en-US" sz="1200" spc="1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 go to the stage of circuit implementation and testing, thus confirming operation in reality. workflow is complete with the design</a:t>
            </a:r>
            <a:r>
              <a:rPr lang="en-US" sz="1200" spc="20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 successful.</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931554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D4878-D588-68D4-8E58-009E449B6D7B}"/>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6353CCC9-B346-FB65-564B-2C6E65106A82}"/>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3043998A-3641-181E-2751-551D82FA7AC8}"/>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10</a:t>
            </a:fld>
            <a:endParaRPr lang="en-IN" sz="1200" b="0" strike="noStrike" spc="-1">
              <a:latin typeface="Times New Roman"/>
            </a:endParaRPr>
          </a:p>
        </p:txBody>
      </p:sp>
      <p:sp>
        <p:nvSpPr>
          <p:cNvPr id="197" name="CustomShape 3">
            <a:extLst>
              <a:ext uri="{FF2B5EF4-FFF2-40B4-BE49-F238E27FC236}">
                <a16:creationId xmlns:a16="http://schemas.microsoft.com/office/drawing/2014/main" id="{4E38E8EB-D0A3-934C-41CB-66301959D97B}"/>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38EEBB67-7EE6-D59A-8513-B189E04568A0}"/>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C844604E-2877-5635-D62B-309FFE0761D8}"/>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C93E186D-724D-8854-B045-A92482A3F652}"/>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DF479533-2AA6-60EA-9A5D-52746248D314}"/>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64A35E78-FEE4-D6FE-7421-ECD0ED3E38C0}"/>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6C19A330-4BB6-1BE0-DC90-94CB60234310}"/>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F0AD6C8E-5105-8F20-0483-6ECD024564EC}"/>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pic>
        <p:nvPicPr>
          <p:cNvPr id="3" name="Picture 2" descr="A diagram of a machine&#10;&#10;AI-generated content may be incorrect.">
            <a:extLst>
              <a:ext uri="{FF2B5EF4-FFF2-40B4-BE49-F238E27FC236}">
                <a16:creationId xmlns:a16="http://schemas.microsoft.com/office/drawing/2014/main" id="{CBA2E659-3D67-415A-F563-B04BF5FAA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944" y="1149576"/>
            <a:ext cx="9172008" cy="4162038"/>
          </a:xfrm>
          <a:prstGeom prst="rect">
            <a:avLst/>
          </a:prstGeom>
        </p:spPr>
      </p:pic>
      <p:sp>
        <p:nvSpPr>
          <p:cNvPr id="5" name="TextBox 4">
            <a:extLst>
              <a:ext uri="{FF2B5EF4-FFF2-40B4-BE49-F238E27FC236}">
                <a16:creationId xmlns:a16="http://schemas.microsoft.com/office/drawing/2014/main" id="{819DAFC9-EFD8-76B9-9206-67D1793FEB6F}"/>
              </a:ext>
            </a:extLst>
          </p:cNvPr>
          <p:cNvSpPr txBox="1"/>
          <p:nvPr/>
        </p:nvSpPr>
        <p:spPr>
          <a:xfrm>
            <a:off x="3554158" y="5523758"/>
            <a:ext cx="5083443" cy="369332"/>
          </a:xfrm>
          <a:prstGeom prst="rect">
            <a:avLst/>
          </a:prstGeom>
          <a:noFill/>
        </p:spPr>
        <p:txBody>
          <a:bodyPr wrap="none" rtlCol="0">
            <a:spAutoFit/>
          </a:bodyPr>
          <a:lstStyle/>
          <a:p>
            <a:r>
              <a:rPr lang="en-IN" dirty="0"/>
              <a:t>System Level Design of DLDO using SIMULINK</a:t>
            </a:r>
          </a:p>
        </p:txBody>
      </p:sp>
    </p:spTree>
    <p:extLst>
      <p:ext uri="{BB962C8B-B14F-4D97-AF65-F5344CB8AC3E}">
        <p14:creationId xmlns:p14="http://schemas.microsoft.com/office/powerpoint/2010/main" val="144513821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Shape 1"/>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11</a:t>
            </a:fld>
            <a:endParaRPr lang="en-IN" sz="1200" b="0" strike="noStrike" spc="-1">
              <a:latin typeface="Times New Roman"/>
            </a:endParaRPr>
          </a:p>
        </p:txBody>
      </p:sp>
      <p:sp>
        <p:nvSpPr>
          <p:cNvPr id="197" name="CustomShape 3"/>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p:cNvGrpSpPr/>
          <p:nvPr/>
        </p:nvGrpSpPr>
        <p:grpSpPr>
          <a:xfrm>
            <a:off x="0" y="72000"/>
            <a:ext cx="12191760" cy="6785640"/>
            <a:chOff x="0" y="72000"/>
            <a:chExt cx="12191760" cy="6785640"/>
          </a:xfrm>
        </p:grpSpPr>
        <p:pic>
          <p:nvPicPr>
            <p:cNvPr id="199" name="Google Shape;115;p3"/>
            <p:cNvPicPr/>
            <p:nvPr/>
          </p:nvPicPr>
          <p:blipFill>
            <a:blip r:embed="rId2"/>
            <a:stretch/>
          </p:blipFill>
          <p:spPr>
            <a:xfrm>
              <a:off x="11211120" y="72000"/>
              <a:ext cx="830520" cy="809640"/>
            </a:xfrm>
            <a:prstGeom prst="rect">
              <a:avLst/>
            </a:prstGeom>
            <a:ln>
              <a:noFill/>
            </a:ln>
          </p:spPr>
        </p:pic>
        <p:sp>
          <p:nvSpPr>
            <p:cNvPr id="200" name="CustomShape 5"/>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graphicFrame>
        <p:nvGraphicFramePr>
          <p:cNvPr id="2" name="Table 1">
            <a:extLst>
              <a:ext uri="{FF2B5EF4-FFF2-40B4-BE49-F238E27FC236}">
                <a16:creationId xmlns:a16="http://schemas.microsoft.com/office/drawing/2014/main" id="{E6D32D9A-10DA-E131-D14F-229801E1A405}"/>
              </a:ext>
            </a:extLst>
          </p:cNvPr>
          <p:cNvGraphicFramePr>
            <a:graphicFrameLocks noGrp="1"/>
          </p:cNvGraphicFramePr>
          <p:nvPr>
            <p:extLst>
              <p:ext uri="{D42A27DB-BD31-4B8C-83A1-F6EECF244321}">
                <p14:modId xmlns:p14="http://schemas.microsoft.com/office/powerpoint/2010/main" val="4207220947"/>
              </p:ext>
            </p:extLst>
          </p:nvPr>
        </p:nvGraphicFramePr>
        <p:xfrm>
          <a:off x="343026" y="1645920"/>
          <a:ext cx="11059543" cy="4040280"/>
        </p:xfrm>
        <a:graphic>
          <a:graphicData uri="http://schemas.openxmlformats.org/drawingml/2006/table">
            <a:tbl>
              <a:tblPr firstRow="1" firstCol="1" lastRow="1" lastCol="1" bandRow="1" bandCol="1">
                <a:tableStyleId>{5940675A-B579-460E-94D1-54222C63F5DA}</a:tableStyleId>
              </a:tblPr>
              <a:tblGrid>
                <a:gridCol w="2638788">
                  <a:extLst>
                    <a:ext uri="{9D8B030D-6E8A-4147-A177-3AD203B41FA5}">
                      <a16:colId xmlns:a16="http://schemas.microsoft.com/office/drawing/2014/main" val="2601304740"/>
                    </a:ext>
                  </a:extLst>
                </a:gridCol>
                <a:gridCol w="2804534">
                  <a:extLst>
                    <a:ext uri="{9D8B030D-6E8A-4147-A177-3AD203B41FA5}">
                      <a16:colId xmlns:a16="http://schemas.microsoft.com/office/drawing/2014/main" val="657927905"/>
                    </a:ext>
                  </a:extLst>
                </a:gridCol>
                <a:gridCol w="2679329">
                  <a:extLst>
                    <a:ext uri="{9D8B030D-6E8A-4147-A177-3AD203B41FA5}">
                      <a16:colId xmlns:a16="http://schemas.microsoft.com/office/drawing/2014/main" val="770058312"/>
                    </a:ext>
                  </a:extLst>
                </a:gridCol>
                <a:gridCol w="2936892">
                  <a:extLst>
                    <a:ext uri="{9D8B030D-6E8A-4147-A177-3AD203B41FA5}">
                      <a16:colId xmlns:a16="http://schemas.microsoft.com/office/drawing/2014/main" val="3124132134"/>
                    </a:ext>
                  </a:extLst>
                </a:gridCol>
              </a:tblGrid>
              <a:tr h="946283">
                <a:tc gridSpan="3">
                  <a:txBody>
                    <a:bodyPr/>
                    <a:lstStyle/>
                    <a:p>
                      <a:pPr marL="1868170">
                        <a:lnSpc>
                          <a:spcPts val="1350"/>
                        </a:lnSpc>
                        <a:buNone/>
                      </a:pPr>
                      <a:r>
                        <a:rPr lang="en-US" sz="1400" spc="-10" dirty="0">
                          <a:effectLst/>
                        </a:rPr>
                        <a:t>Input</a:t>
                      </a:r>
                      <a:r>
                        <a:rPr lang="en-US" sz="1400" spc="-40" dirty="0">
                          <a:effectLst/>
                        </a:rPr>
                        <a:t> </a:t>
                      </a:r>
                      <a:r>
                        <a:rPr lang="en-US" sz="1400" spc="-10" dirty="0">
                          <a:effectLst/>
                        </a:rPr>
                        <a:t>Parameters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a:txBody>
                    <a:bodyPr/>
                    <a:lstStyle/>
                    <a:p>
                      <a:pPr marL="74295">
                        <a:lnSpc>
                          <a:spcPts val="1350"/>
                        </a:lnSpc>
                        <a:buNone/>
                      </a:pPr>
                      <a:r>
                        <a:rPr lang="en-US" sz="1400" dirty="0">
                          <a:effectLst/>
                        </a:rPr>
                        <a:t>Output </a:t>
                      </a:r>
                      <a:r>
                        <a:rPr lang="en-US" sz="1400" spc="-10" dirty="0">
                          <a:effectLst/>
                        </a:rPr>
                        <a:t>Parameters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558247033"/>
                  </a:ext>
                </a:extLst>
              </a:tr>
              <a:tr h="517073">
                <a:tc>
                  <a:txBody>
                    <a:bodyPr/>
                    <a:lstStyle/>
                    <a:p>
                      <a:pPr marL="77470">
                        <a:lnSpc>
                          <a:spcPts val="1305"/>
                        </a:lnSpc>
                        <a:buNone/>
                      </a:pPr>
                      <a:r>
                        <a:rPr lang="en-US" sz="1400">
                          <a:effectLst/>
                        </a:rPr>
                        <a:t>Input</a:t>
                      </a:r>
                      <a:r>
                        <a:rPr lang="en-US" sz="1400" spc="-70">
                          <a:effectLst/>
                        </a:rPr>
                        <a:t> </a:t>
                      </a:r>
                      <a:r>
                        <a:rPr lang="en-US" sz="1400" spc="-10">
                          <a:effectLst/>
                        </a:rPr>
                        <a:t>Voltage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400" spc="-10">
                          <a:effectLst/>
                        </a:rPr>
                        <a:t>Resistance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400" spc="-10">
                          <a:effectLst/>
                        </a:rPr>
                        <a:t>Capacitance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305"/>
                        </a:lnSpc>
                        <a:buNone/>
                      </a:pPr>
                      <a:r>
                        <a:rPr lang="en-US" sz="1400">
                          <a:effectLst/>
                        </a:rPr>
                        <a:t>Output</a:t>
                      </a:r>
                      <a:r>
                        <a:rPr lang="en-US" sz="1400" spc="-20">
                          <a:effectLst/>
                        </a:rPr>
                        <a:t> </a:t>
                      </a:r>
                      <a:r>
                        <a:rPr lang="en-US" sz="1400" spc="-10">
                          <a:effectLst/>
                        </a:rPr>
                        <a:t>Voltage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700057094"/>
                  </a:ext>
                </a:extLst>
              </a:tr>
              <a:tr h="522144">
                <a:tc>
                  <a:txBody>
                    <a:bodyPr/>
                    <a:lstStyle/>
                    <a:p>
                      <a:pPr marL="77470">
                        <a:lnSpc>
                          <a:spcPts val="1290"/>
                        </a:lnSpc>
                        <a:buNone/>
                      </a:pPr>
                      <a:r>
                        <a:rPr lang="en-US" sz="1400" spc="-25">
                          <a:effectLst/>
                        </a:rPr>
                        <a:t>1v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10">
                          <a:effectLst/>
                        </a:rPr>
                        <a:t>10kohm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20">
                          <a:effectLst/>
                        </a:rPr>
                        <a:t>10uf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290"/>
                        </a:lnSpc>
                        <a:buNone/>
                      </a:pPr>
                      <a:r>
                        <a:rPr lang="en-US" sz="1400" spc="-25">
                          <a:effectLst/>
                        </a:rPr>
                        <a:t>11v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3931302"/>
                  </a:ext>
                </a:extLst>
              </a:tr>
              <a:tr h="510315">
                <a:tc>
                  <a:txBody>
                    <a:bodyPr/>
                    <a:lstStyle/>
                    <a:p>
                      <a:pPr marL="77470">
                        <a:lnSpc>
                          <a:spcPts val="1290"/>
                        </a:lnSpc>
                        <a:buNone/>
                      </a:pPr>
                      <a:r>
                        <a:rPr lang="en-US" sz="1400" spc="-25">
                          <a:effectLst/>
                        </a:rPr>
                        <a:t>2v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10">
                          <a:effectLst/>
                        </a:rPr>
                        <a:t>10kohm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20">
                          <a:effectLst/>
                        </a:rPr>
                        <a:t>10uf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290"/>
                        </a:lnSpc>
                        <a:buNone/>
                      </a:pPr>
                      <a:r>
                        <a:rPr lang="en-US" sz="1400" spc="-25">
                          <a:effectLst/>
                        </a:rPr>
                        <a:t>22v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5333305"/>
                  </a:ext>
                </a:extLst>
              </a:tr>
              <a:tr h="513696">
                <a:tc>
                  <a:txBody>
                    <a:bodyPr/>
                    <a:lstStyle/>
                    <a:p>
                      <a:pPr marL="77470">
                        <a:lnSpc>
                          <a:spcPts val="1305"/>
                        </a:lnSpc>
                        <a:buNone/>
                      </a:pPr>
                      <a:r>
                        <a:rPr lang="en-US" sz="1400" spc="-25">
                          <a:effectLst/>
                        </a:rPr>
                        <a:t>3v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400" spc="-10">
                          <a:effectLst/>
                        </a:rPr>
                        <a:t>10kohm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400" spc="-20">
                          <a:effectLst/>
                        </a:rPr>
                        <a:t>10uf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305"/>
                        </a:lnSpc>
                        <a:buNone/>
                      </a:pPr>
                      <a:r>
                        <a:rPr lang="en-US" sz="1400" spc="-25">
                          <a:effectLst/>
                        </a:rPr>
                        <a:t>33v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259003384"/>
                  </a:ext>
                </a:extLst>
              </a:tr>
              <a:tr h="517073">
                <a:tc>
                  <a:txBody>
                    <a:bodyPr/>
                    <a:lstStyle/>
                    <a:p>
                      <a:pPr marL="77470">
                        <a:lnSpc>
                          <a:spcPts val="1290"/>
                        </a:lnSpc>
                        <a:buNone/>
                      </a:pPr>
                      <a:r>
                        <a:rPr lang="en-US" sz="1400" spc="-25">
                          <a:effectLst/>
                        </a:rPr>
                        <a:t>4v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10">
                          <a:effectLst/>
                        </a:rPr>
                        <a:t>10kohm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20">
                          <a:effectLst/>
                        </a:rPr>
                        <a:t>10uf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290"/>
                        </a:lnSpc>
                        <a:buNone/>
                      </a:pPr>
                      <a:r>
                        <a:rPr lang="en-US" sz="1400" spc="-25" dirty="0">
                          <a:effectLst/>
                        </a:rPr>
                        <a:t>44v</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69907438"/>
                  </a:ext>
                </a:extLst>
              </a:tr>
              <a:tr h="513696">
                <a:tc>
                  <a:txBody>
                    <a:bodyPr/>
                    <a:lstStyle/>
                    <a:p>
                      <a:pPr marL="77470">
                        <a:lnSpc>
                          <a:spcPts val="1290"/>
                        </a:lnSpc>
                        <a:buNone/>
                      </a:pPr>
                      <a:r>
                        <a:rPr lang="en-US" sz="1400" spc="-25">
                          <a:effectLst/>
                        </a:rPr>
                        <a:t>5v</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10">
                          <a:effectLst/>
                        </a:rPr>
                        <a:t>10kohm</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400" spc="-20">
                          <a:effectLst/>
                        </a:rPr>
                        <a:t>10uf</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4295">
                        <a:lnSpc>
                          <a:spcPts val="1290"/>
                        </a:lnSpc>
                        <a:buNone/>
                      </a:pPr>
                      <a:r>
                        <a:rPr lang="en-US" sz="1400" spc="-25" dirty="0">
                          <a:effectLst/>
                        </a:rPr>
                        <a:t>55v</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67262504"/>
                  </a:ext>
                </a:extLst>
              </a:tr>
            </a:tbl>
          </a:graphicData>
        </a:graphic>
      </p:graphicFrame>
      <p:sp>
        <p:nvSpPr>
          <p:cNvPr id="6" name="TextBox 5">
            <a:extLst>
              <a:ext uri="{FF2B5EF4-FFF2-40B4-BE49-F238E27FC236}">
                <a16:creationId xmlns:a16="http://schemas.microsoft.com/office/drawing/2014/main" id="{6FF6F023-8521-E54A-3A72-E97707A9EF98}"/>
              </a:ext>
            </a:extLst>
          </p:cNvPr>
          <p:cNvSpPr txBox="1"/>
          <p:nvPr/>
        </p:nvSpPr>
        <p:spPr>
          <a:xfrm>
            <a:off x="-278892" y="1092988"/>
            <a:ext cx="6099048" cy="369332"/>
          </a:xfrm>
          <a:prstGeom prst="rect">
            <a:avLst/>
          </a:prstGeom>
          <a:noFill/>
        </p:spPr>
        <p:txBody>
          <a:bodyPr wrap="square">
            <a:spAutoFit/>
          </a:bodyPr>
          <a:lstStyle/>
          <a:p>
            <a:pPr lvl="1" algn="r">
              <a:spcBef>
                <a:spcPts val="5"/>
              </a:spcBef>
              <a:buSzPts val="1400"/>
              <a:tabLst>
                <a:tab pos="675640" algn="l"/>
              </a:tabLst>
            </a:pPr>
            <a:r>
              <a:rPr lang="en-US" sz="1800" b="1" spc="-20" dirty="0">
                <a:effectLst/>
                <a:latin typeface="Times New Roman" panose="02020603050405020304" pitchFamily="18" charset="0"/>
                <a:ea typeface="Times New Roman" panose="02020603050405020304" pitchFamily="18" charset="0"/>
              </a:rPr>
              <a:t>1. Analysis</a:t>
            </a:r>
            <a:r>
              <a:rPr lang="en-US" sz="1800" b="1" spc="-9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10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output</a:t>
            </a:r>
            <a:r>
              <a:rPr lang="en-US" sz="1800" b="1" spc="-8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voltage</a:t>
            </a:r>
            <a:r>
              <a:rPr lang="en-US" sz="1800" b="1" spc="-7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7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Simulink</a:t>
            </a:r>
            <a:r>
              <a:rPr lang="en-US" sz="1800" b="1" spc="-5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(Input</a:t>
            </a:r>
            <a:r>
              <a:rPr lang="en-US" sz="1800" b="1" spc="-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Varies)</a:t>
            </a:r>
            <a:endParaRPr lang="en-IN" sz="1800" b="1"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0430406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9AB9-C1BF-7B17-4201-95ABD5550AAD}"/>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31D3E65A-67CD-D760-5E48-2E11B9AE93AC}"/>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B2C09FD9-C4BC-7C73-30BF-4FFF6DBAFE9B}"/>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12</a:t>
            </a:fld>
            <a:endParaRPr lang="en-IN" sz="1200" b="0" strike="noStrike" spc="-1">
              <a:latin typeface="Times New Roman"/>
            </a:endParaRPr>
          </a:p>
        </p:txBody>
      </p:sp>
      <p:sp>
        <p:nvSpPr>
          <p:cNvPr id="197" name="CustomShape 3">
            <a:extLst>
              <a:ext uri="{FF2B5EF4-FFF2-40B4-BE49-F238E27FC236}">
                <a16:creationId xmlns:a16="http://schemas.microsoft.com/office/drawing/2014/main" id="{55580B02-CD3D-B809-EF7F-BC58F8EE0B34}"/>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4C00B141-39E1-FEAF-4492-C418BDB3EE06}"/>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C3B45290-6C5F-670C-73D1-03C8477A4C9E}"/>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045B02D8-BF15-583B-44DC-77471AFE45D6}"/>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C0F6AA0D-E5D5-EB54-55A9-9D9193DCAB31}"/>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C59B85EB-3826-FF0A-A93A-8EB4C544C6D1}"/>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9C50D046-7E03-9D5C-A37A-E5813A83DF41}"/>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B0F10522-E046-BC8C-73AD-C443B010B0B0}"/>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graphicFrame>
        <p:nvGraphicFramePr>
          <p:cNvPr id="7" name="Table 6">
            <a:extLst>
              <a:ext uri="{FF2B5EF4-FFF2-40B4-BE49-F238E27FC236}">
                <a16:creationId xmlns:a16="http://schemas.microsoft.com/office/drawing/2014/main" id="{F78708FB-2E2F-D072-0B7E-5DBCBDE98EEB}"/>
              </a:ext>
            </a:extLst>
          </p:cNvPr>
          <p:cNvGraphicFramePr>
            <a:graphicFrameLocks noGrp="1"/>
          </p:cNvGraphicFramePr>
          <p:nvPr>
            <p:extLst>
              <p:ext uri="{D42A27DB-BD31-4B8C-83A1-F6EECF244321}">
                <p14:modId xmlns:p14="http://schemas.microsoft.com/office/powerpoint/2010/main" val="87546290"/>
              </p:ext>
            </p:extLst>
          </p:nvPr>
        </p:nvGraphicFramePr>
        <p:xfrm>
          <a:off x="283392" y="1673669"/>
          <a:ext cx="10927728" cy="3748723"/>
        </p:xfrm>
        <a:graphic>
          <a:graphicData uri="http://schemas.openxmlformats.org/drawingml/2006/table">
            <a:tbl>
              <a:tblPr firstRow="1" firstCol="1" lastRow="1" lastCol="1" bandRow="1" bandCol="1">
                <a:tableStyleId>{5940675A-B579-460E-94D1-54222C63F5DA}</a:tableStyleId>
              </a:tblPr>
              <a:tblGrid>
                <a:gridCol w="2604126">
                  <a:extLst>
                    <a:ext uri="{9D8B030D-6E8A-4147-A177-3AD203B41FA5}">
                      <a16:colId xmlns:a16="http://schemas.microsoft.com/office/drawing/2014/main" val="1724239304"/>
                    </a:ext>
                  </a:extLst>
                </a:gridCol>
                <a:gridCol w="2772674">
                  <a:extLst>
                    <a:ext uri="{9D8B030D-6E8A-4147-A177-3AD203B41FA5}">
                      <a16:colId xmlns:a16="http://schemas.microsoft.com/office/drawing/2014/main" val="2380004585"/>
                    </a:ext>
                  </a:extLst>
                </a:gridCol>
                <a:gridCol w="2646541">
                  <a:extLst>
                    <a:ext uri="{9D8B030D-6E8A-4147-A177-3AD203B41FA5}">
                      <a16:colId xmlns:a16="http://schemas.microsoft.com/office/drawing/2014/main" val="349977912"/>
                    </a:ext>
                  </a:extLst>
                </a:gridCol>
                <a:gridCol w="2904387">
                  <a:extLst>
                    <a:ext uri="{9D8B030D-6E8A-4147-A177-3AD203B41FA5}">
                      <a16:colId xmlns:a16="http://schemas.microsoft.com/office/drawing/2014/main" val="215727160"/>
                    </a:ext>
                  </a:extLst>
                </a:gridCol>
              </a:tblGrid>
              <a:tr h="780521">
                <a:tc gridSpan="3">
                  <a:txBody>
                    <a:bodyPr/>
                    <a:lstStyle/>
                    <a:p>
                      <a:pPr marL="200025" algn="ctr">
                        <a:lnSpc>
                          <a:spcPts val="1340"/>
                        </a:lnSpc>
                        <a:buNone/>
                      </a:pPr>
                      <a:r>
                        <a:rPr lang="en-US" sz="1200" spc="-10" dirty="0">
                          <a:effectLst/>
                        </a:rPr>
                        <a:t>Input</a:t>
                      </a:r>
                      <a:r>
                        <a:rPr lang="en-US" sz="1200" spc="-40" dirty="0">
                          <a:effectLst/>
                        </a:rPr>
                        <a:t> </a:t>
                      </a:r>
                      <a:r>
                        <a:rPr lang="en-US" sz="1200" spc="-10" dirty="0">
                          <a:effectLst/>
                        </a:rPr>
                        <a:t>Parameters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a:txBody>
                    <a:bodyPr/>
                    <a:lstStyle/>
                    <a:p>
                      <a:pPr marL="78105">
                        <a:lnSpc>
                          <a:spcPts val="1340"/>
                        </a:lnSpc>
                        <a:buNone/>
                      </a:pPr>
                      <a:r>
                        <a:rPr lang="en-US" sz="1200" dirty="0">
                          <a:effectLst/>
                        </a:rPr>
                        <a:t>Output </a:t>
                      </a:r>
                      <a:r>
                        <a:rPr lang="en-US" sz="1200" spc="-10" dirty="0">
                          <a:effectLst/>
                        </a:rPr>
                        <a:t>Parameters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95217317"/>
                  </a:ext>
                </a:extLst>
              </a:tr>
              <a:tr h="493378">
                <a:tc>
                  <a:txBody>
                    <a:bodyPr/>
                    <a:lstStyle/>
                    <a:p>
                      <a:pPr marL="77470">
                        <a:lnSpc>
                          <a:spcPts val="1290"/>
                        </a:lnSpc>
                        <a:buNone/>
                      </a:pPr>
                      <a:r>
                        <a:rPr lang="en-US" sz="1200">
                          <a:effectLst/>
                        </a:rPr>
                        <a:t>Input</a:t>
                      </a:r>
                      <a:r>
                        <a:rPr lang="en-US" sz="1200" spc="-65">
                          <a:effectLst/>
                        </a:rPr>
                        <a:t> </a:t>
                      </a:r>
                      <a:r>
                        <a:rPr lang="en-US" sz="1200" spc="-10">
                          <a:effectLst/>
                        </a:rPr>
                        <a:t>Voltage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200" spc="-10">
                          <a:effectLst/>
                        </a:rPr>
                        <a:t>Resistance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10">
                          <a:effectLst/>
                        </a:rPr>
                        <a:t>Capacitance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a:effectLst/>
                        </a:rPr>
                        <a:t>Output</a:t>
                      </a:r>
                      <a:r>
                        <a:rPr lang="en-US" sz="1200" spc="-20">
                          <a:effectLst/>
                        </a:rPr>
                        <a:t> </a:t>
                      </a:r>
                      <a:r>
                        <a:rPr lang="en-US" sz="1200" spc="-10">
                          <a:effectLst/>
                        </a:rPr>
                        <a:t>Voltage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522075204"/>
                  </a:ext>
                </a:extLst>
              </a:tr>
              <a:tr h="498137">
                <a:tc>
                  <a:txBody>
                    <a:bodyPr/>
                    <a:lstStyle/>
                    <a:p>
                      <a:pPr marL="77470">
                        <a:lnSpc>
                          <a:spcPts val="129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9525859"/>
                  </a:ext>
                </a:extLst>
              </a:tr>
              <a:tr h="490207">
                <a:tc>
                  <a:txBody>
                    <a:bodyPr/>
                    <a:lstStyle/>
                    <a:p>
                      <a:pPr marL="77470">
                        <a:lnSpc>
                          <a:spcPts val="129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200" spc="-10">
                          <a:effectLst/>
                        </a:rPr>
                        <a:t>20kohm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98123465"/>
                  </a:ext>
                </a:extLst>
              </a:tr>
              <a:tr h="496551">
                <a:tc>
                  <a:txBody>
                    <a:bodyPr/>
                    <a:lstStyle/>
                    <a:p>
                      <a:pPr marL="77470">
                        <a:lnSpc>
                          <a:spcPts val="129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90"/>
                        </a:lnSpc>
                        <a:buNone/>
                      </a:pPr>
                      <a:r>
                        <a:rPr lang="en-US" sz="1200" spc="-10">
                          <a:effectLst/>
                        </a:rPr>
                        <a:t>30kohm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290"/>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68118897"/>
                  </a:ext>
                </a:extLst>
              </a:tr>
              <a:tr h="496551">
                <a:tc>
                  <a:txBody>
                    <a:bodyPr/>
                    <a:lstStyle/>
                    <a:p>
                      <a:pPr marL="77470">
                        <a:lnSpc>
                          <a:spcPts val="1305"/>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200" spc="-10">
                          <a:effectLst/>
                        </a:rPr>
                        <a:t>40kohm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305"/>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305"/>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97825069"/>
                  </a:ext>
                </a:extLst>
              </a:tr>
              <a:tr h="493378">
                <a:tc>
                  <a:txBody>
                    <a:bodyPr/>
                    <a:lstStyle/>
                    <a:p>
                      <a:pPr marL="77470">
                        <a:lnSpc>
                          <a:spcPts val="1305"/>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305"/>
                        </a:lnSpc>
                        <a:buNone/>
                      </a:pPr>
                      <a:r>
                        <a:rPr lang="en-US" sz="1200" spc="-10">
                          <a:effectLst/>
                        </a:rPr>
                        <a:t>50kohm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305"/>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a:lnSpc>
                          <a:spcPts val="1305"/>
                        </a:lnSpc>
                        <a:buNone/>
                      </a:pPr>
                      <a:r>
                        <a:rPr lang="en-US" sz="1200" spc="-25" dirty="0">
                          <a:effectLst/>
                        </a:rPr>
                        <a:t>11v</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91769742"/>
                  </a:ext>
                </a:extLst>
              </a:tr>
            </a:tbl>
          </a:graphicData>
        </a:graphic>
      </p:graphicFrame>
      <p:sp>
        <p:nvSpPr>
          <p:cNvPr id="4" name="TextBox 3">
            <a:extLst>
              <a:ext uri="{FF2B5EF4-FFF2-40B4-BE49-F238E27FC236}">
                <a16:creationId xmlns:a16="http://schemas.microsoft.com/office/drawing/2014/main" id="{7D783C46-F57C-5551-22A1-9B934DCFF734}"/>
              </a:ext>
            </a:extLst>
          </p:cNvPr>
          <p:cNvSpPr txBox="1"/>
          <p:nvPr/>
        </p:nvSpPr>
        <p:spPr>
          <a:xfrm>
            <a:off x="-544068" y="981360"/>
            <a:ext cx="6640068" cy="369332"/>
          </a:xfrm>
          <a:prstGeom prst="rect">
            <a:avLst/>
          </a:prstGeom>
          <a:noFill/>
        </p:spPr>
        <p:txBody>
          <a:bodyPr wrap="square">
            <a:spAutoFit/>
          </a:bodyPr>
          <a:lstStyle/>
          <a:p>
            <a:pPr lvl="1" algn="r">
              <a:buSzPts val="1400"/>
              <a:tabLst>
                <a:tab pos="676275" algn="l"/>
              </a:tabLst>
            </a:pPr>
            <a:r>
              <a:rPr lang="en-US" sz="1800" b="1" spc="-20" dirty="0">
                <a:effectLst/>
                <a:latin typeface="Times New Roman" panose="02020603050405020304" pitchFamily="18" charset="0"/>
                <a:ea typeface="Times New Roman" panose="02020603050405020304" pitchFamily="18" charset="0"/>
              </a:rPr>
              <a:t>2. Analysis</a:t>
            </a:r>
            <a:r>
              <a:rPr lang="en-US" sz="1800" b="1" spc="-9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11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output</a:t>
            </a:r>
            <a:r>
              <a:rPr lang="en-US" sz="1800" b="1" spc="-7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voltage</a:t>
            </a:r>
            <a:r>
              <a:rPr lang="en-US" sz="1800" b="1" spc="-7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6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Simulink</a:t>
            </a:r>
            <a:r>
              <a:rPr lang="en-US" sz="1800" b="1" spc="-9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(Resistance Varies)</a:t>
            </a:r>
            <a:endParaRPr lang="en-IN" sz="1800" b="1"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4191191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603B-6F6C-4D46-0A5C-48D28E2F544B}"/>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3A7EDDDC-49B9-ADD5-EE80-C9845B5E8C77}"/>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F13ABD8A-C424-9F08-2642-1AE6E6A68C0B}"/>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13</a:t>
            </a:fld>
            <a:endParaRPr lang="en-IN" sz="1200" b="0" strike="noStrike" spc="-1">
              <a:latin typeface="Times New Roman"/>
            </a:endParaRPr>
          </a:p>
        </p:txBody>
      </p:sp>
      <p:sp>
        <p:nvSpPr>
          <p:cNvPr id="197" name="CustomShape 3">
            <a:extLst>
              <a:ext uri="{FF2B5EF4-FFF2-40B4-BE49-F238E27FC236}">
                <a16:creationId xmlns:a16="http://schemas.microsoft.com/office/drawing/2014/main" id="{92D9ABA2-5BFD-C18F-B263-7303E0C402EB}"/>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D5362E01-BAAF-65FF-2041-F4CCC5C70114}"/>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92A1040D-4738-8362-77EA-24A37245074C}"/>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79AE12D9-D22C-0A87-2FF1-8A9CC7CD5D51}"/>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4301ACC2-E12B-C83C-10C6-65C1B88FDF1F}"/>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551AB2DA-4F62-29B6-F9A8-ED938C8754C4}"/>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82C9F878-94A1-8FF3-DAF7-19AF32AE70F6}"/>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A0B90694-90FD-1E12-9490-A2CD962EAFE9}"/>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sp>
        <p:nvSpPr>
          <p:cNvPr id="3" name="TextBox 2">
            <a:extLst>
              <a:ext uri="{FF2B5EF4-FFF2-40B4-BE49-F238E27FC236}">
                <a16:creationId xmlns:a16="http://schemas.microsoft.com/office/drawing/2014/main" id="{8C400CFD-8444-3B6E-264B-68EAEED58DE7}"/>
              </a:ext>
            </a:extLst>
          </p:cNvPr>
          <p:cNvSpPr txBox="1"/>
          <p:nvPr/>
        </p:nvSpPr>
        <p:spPr>
          <a:xfrm>
            <a:off x="-3168" y="1019880"/>
            <a:ext cx="6705720" cy="369332"/>
          </a:xfrm>
          <a:prstGeom prst="rect">
            <a:avLst/>
          </a:prstGeom>
          <a:noFill/>
        </p:spPr>
        <p:txBody>
          <a:bodyPr wrap="square">
            <a:spAutoFit/>
          </a:bodyPr>
          <a:lstStyle/>
          <a:p>
            <a:pPr lvl="1" algn="r">
              <a:buSzPts val="1400"/>
              <a:tabLst>
                <a:tab pos="488950" algn="l"/>
              </a:tabLst>
            </a:pPr>
            <a:r>
              <a:rPr lang="en-US" sz="1800" b="1" spc="-20" dirty="0">
                <a:effectLst/>
                <a:latin typeface="Times New Roman" panose="02020603050405020304" pitchFamily="18" charset="0"/>
                <a:ea typeface="Times New Roman" panose="02020603050405020304" pitchFamily="18" charset="0"/>
              </a:rPr>
              <a:t>3. Analysis</a:t>
            </a:r>
            <a:r>
              <a:rPr lang="en-US" sz="1800" b="1" spc="-9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9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output</a:t>
            </a:r>
            <a:r>
              <a:rPr lang="en-US" sz="1800" b="1" spc="-8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voltage</a:t>
            </a:r>
            <a:r>
              <a:rPr lang="en-US" sz="1800" b="1" spc="-7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of</a:t>
            </a:r>
            <a:r>
              <a:rPr lang="en-US" sz="1800" b="1" spc="-7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Simulink</a:t>
            </a:r>
            <a:r>
              <a:rPr lang="en-US" sz="1800" b="1" spc="-75"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(Capacitance</a:t>
            </a:r>
            <a:r>
              <a:rPr lang="en-US" sz="1800" b="1" spc="-40" dirty="0">
                <a:effectLst/>
                <a:latin typeface="Times New Roman" panose="02020603050405020304" pitchFamily="18" charset="0"/>
                <a:ea typeface="Times New Roman" panose="02020603050405020304" pitchFamily="18" charset="0"/>
              </a:rPr>
              <a:t> </a:t>
            </a:r>
            <a:r>
              <a:rPr lang="en-US" sz="1800" b="1" spc="-20" dirty="0">
                <a:effectLst/>
                <a:latin typeface="Times New Roman" panose="02020603050405020304" pitchFamily="18" charset="0"/>
                <a:ea typeface="Times New Roman" panose="02020603050405020304" pitchFamily="18" charset="0"/>
              </a:rPr>
              <a:t>Varies)</a:t>
            </a:r>
            <a:endParaRPr lang="en-IN" sz="1800" b="1" spc="0" dirty="0">
              <a:effectLst/>
              <a:latin typeface="Times New Roman" panose="02020603050405020304" pitchFamily="18" charset="0"/>
              <a:ea typeface="Times New Roman" panose="02020603050405020304" pitchFamily="18" charset="0"/>
            </a:endParaRPr>
          </a:p>
        </p:txBody>
      </p:sp>
      <p:graphicFrame>
        <p:nvGraphicFramePr>
          <p:cNvPr id="5" name="Table 4">
            <a:extLst>
              <a:ext uri="{FF2B5EF4-FFF2-40B4-BE49-F238E27FC236}">
                <a16:creationId xmlns:a16="http://schemas.microsoft.com/office/drawing/2014/main" id="{BE0B068D-E1B3-11DA-21D5-133FFE4C7DC9}"/>
              </a:ext>
            </a:extLst>
          </p:cNvPr>
          <p:cNvGraphicFramePr>
            <a:graphicFrameLocks noGrp="1"/>
          </p:cNvGraphicFramePr>
          <p:nvPr>
            <p:extLst>
              <p:ext uri="{D42A27DB-BD31-4B8C-83A1-F6EECF244321}">
                <p14:modId xmlns:p14="http://schemas.microsoft.com/office/powerpoint/2010/main" val="448162757"/>
              </p:ext>
            </p:extLst>
          </p:nvPr>
        </p:nvGraphicFramePr>
        <p:xfrm>
          <a:off x="741172" y="1645920"/>
          <a:ext cx="10840749" cy="4375799"/>
        </p:xfrm>
        <a:graphic>
          <a:graphicData uri="http://schemas.openxmlformats.org/drawingml/2006/table">
            <a:tbl>
              <a:tblPr firstRow="1" firstCol="1" lastRow="1" lastCol="1" bandRow="1" bandCol="1">
                <a:tableStyleId>{5940675A-B579-460E-94D1-54222C63F5DA}</a:tableStyleId>
              </a:tblPr>
              <a:tblGrid>
                <a:gridCol w="2582118">
                  <a:extLst>
                    <a:ext uri="{9D8B030D-6E8A-4147-A177-3AD203B41FA5}">
                      <a16:colId xmlns:a16="http://schemas.microsoft.com/office/drawing/2014/main" val="4134423427"/>
                    </a:ext>
                  </a:extLst>
                </a:gridCol>
                <a:gridCol w="2749218">
                  <a:extLst>
                    <a:ext uri="{9D8B030D-6E8A-4147-A177-3AD203B41FA5}">
                      <a16:colId xmlns:a16="http://schemas.microsoft.com/office/drawing/2014/main" val="634977189"/>
                    </a:ext>
                  </a:extLst>
                </a:gridCol>
                <a:gridCol w="2628467">
                  <a:extLst>
                    <a:ext uri="{9D8B030D-6E8A-4147-A177-3AD203B41FA5}">
                      <a16:colId xmlns:a16="http://schemas.microsoft.com/office/drawing/2014/main" val="2215249016"/>
                    </a:ext>
                  </a:extLst>
                </a:gridCol>
                <a:gridCol w="2880946">
                  <a:extLst>
                    <a:ext uri="{9D8B030D-6E8A-4147-A177-3AD203B41FA5}">
                      <a16:colId xmlns:a16="http://schemas.microsoft.com/office/drawing/2014/main" val="4289430818"/>
                    </a:ext>
                  </a:extLst>
                </a:gridCol>
              </a:tblGrid>
              <a:tr h="904683">
                <a:tc gridSpan="3">
                  <a:txBody>
                    <a:bodyPr/>
                    <a:lstStyle/>
                    <a:p>
                      <a:pPr marL="1868170">
                        <a:lnSpc>
                          <a:spcPts val="1340"/>
                        </a:lnSpc>
                        <a:buNone/>
                      </a:pPr>
                      <a:r>
                        <a:rPr lang="en-US" sz="1200" spc="-10" dirty="0">
                          <a:effectLst/>
                        </a:rPr>
                        <a:t>Input</a:t>
                      </a:r>
                      <a:r>
                        <a:rPr lang="en-US" sz="1200" spc="-40" dirty="0">
                          <a:effectLst/>
                        </a:rPr>
                        <a:t> </a:t>
                      </a:r>
                      <a:r>
                        <a:rPr lang="en-US" sz="1200" spc="-10" dirty="0">
                          <a:effectLst/>
                        </a:rPr>
                        <a:t>Parameters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a:txBody>
                    <a:bodyPr/>
                    <a:lstStyle/>
                    <a:p>
                      <a:pPr marL="77470">
                        <a:lnSpc>
                          <a:spcPts val="1340"/>
                        </a:lnSpc>
                        <a:buNone/>
                      </a:pPr>
                      <a:r>
                        <a:rPr lang="en-US" sz="1200" dirty="0">
                          <a:effectLst/>
                        </a:rPr>
                        <a:t>Output </a:t>
                      </a:r>
                      <a:r>
                        <a:rPr lang="en-US" sz="1200" spc="-10" dirty="0">
                          <a:effectLst/>
                        </a:rPr>
                        <a:t>Parameters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44114676"/>
                  </a:ext>
                </a:extLst>
              </a:tr>
              <a:tr h="579925">
                <a:tc>
                  <a:txBody>
                    <a:bodyPr/>
                    <a:lstStyle/>
                    <a:p>
                      <a:pPr marL="77470">
                        <a:lnSpc>
                          <a:spcPts val="1280"/>
                        </a:lnSpc>
                        <a:buNone/>
                      </a:pPr>
                      <a:r>
                        <a:rPr lang="en-US" sz="1200">
                          <a:effectLst/>
                        </a:rPr>
                        <a:t>Input</a:t>
                      </a:r>
                      <a:r>
                        <a:rPr lang="en-US" sz="1200" spc="-70">
                          <a:effectLst/>
                        </a:rPr>
                        <a:t> </a:t>
                      </a:r>
                      <a:r>
                        <a:rPr lang="en-US" sz="1200" spc="-10">
                          <a:effectLst/>
                        </a:rPr>
                        <a:t>Voltage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80"/>
                        </a:lnSpc>
                        <a:buNone/>
                      </a:pPr>
                      <a:r>
                        <a:rPr lang="en-US" sz="1200" spc="-10">
                          <a:effectLst/>
                        </a:rPr>
                        <a:t>Resistance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10">
                          <a:effectLst/>
                        </a:rPr>
                        <a:t>Capacitance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a:effectLst/>
                        </a:rPr>
                        <a:t>Output</a:t>
                      </a:r>
                      <a:r>
                        <a:rPr lang="en-US" sz="1200" spc="-25">
                          <a:effectLst/>
                        </a:rPr>
                        <a:t> </a:t>
                      </a:r>
                      <a:r>
                        <a:rPr lang="en-US" sz="1200" spc="-10">
                          <a:effectLst/>
                        </a:rPr>
                        <a:t>Voltage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16647405"/>
                  </a:ext>
                </a:extLst>
              </a:tr>
              <a:tr h="579925">
                <a:tc>
                  <a:txBody>
                    <a:bodyPr/>
                    <a:lstStyle/>
                    <a:p>
                      <a:pPr marL="77470">
                        <a:lnSpc>
                          <a:spcPts val="128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80"/>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0">
                          <a:effectLst/>
                        </a:rPr>
                        <a:t>10uf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63301929"/>
                  </a:ext>
                </a:extLst>
              </a:tr>
              <a:tr h="579925">
                <a:tc>
                  <a:txBody>
                    <a:bodyPr/>
                    <a:lstStyle/>
                    <a:p>
                      <a:pPr marL="77470">
                        <a:lnSpc>
                          <a:spcPts val="128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80"/>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0">
                          <a:effectLst/>
                        </a:rPr>
                        <a:t>20uf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47722718"/>
                  </a:ext>
                </a:extLst>
              </a:tr>
              <a:tr h="575708">
                <a:tc>
                  <a:txBody>
                    <a:bodyPr/>
                    <a:lstStyle/>
                    <a:p>
                      <a:pPr marL="77470">
                        <a:lnSpc>
                          <a:spcPts val="1265"/>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65"/>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65"/>
                        </a:lnSpc>
                        <a:buNone/>
                      </a:pPr>
                      <a:r>
                        <a:rPr lang="en-US" sz="1200" spc="-20">
                          <a:effectLst/>
                        </a:rPr>
                        <a:t>30uf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65"/>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52346795"/>
                  </a:ext>
                </a:extLst>
              </a:tr>
              <a:tr h="575708">
                <a:tc>
                  <a:txBody>
                    <a:bodyPr/>
                    <a:lstStyle/>
                    <a:p>
                      <a:pPr marL="77470">
                        <a:lnSpc>
                          <a:spcPts val="1265"/>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65"/>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65"/>
                        </a:lnSpc>
                        <a:buNone/>
                      </a:pPr>
                      <a:r>
                        <a:rPr lang="en-US" sz="1200" spc="-20">
                          <a:effectLst/>
                        </a:rPr>
                        <a:t>40uf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65"/>
                        </a:lnSpc>
                        <a:buNone/>
                      </a:pPr>
                      <a:r>
                        <a:rPr lang="en-US" sz="1200" spc="-25">
                          <a:effectLst/>
                        </a:rPr>
                        <a:t>11v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59345515"/>
                  </a:ext>
                </a:extLst>
              </a:tr>
              <a:tr h="579925">
                <a:tc>
                  <a:txBody>
                    <a:bodyPr/>
                    <a:lstStyle/>
                    <a:p>
                      <a:pPr marL="77470">
                        <a:lnSpc>
                          <a:spcPts val="1280"/>
                        </a:lnSpc>
                        <a:buNone/>
                      </a:pPr>
                      <a:r>
                        <a:rPr lang="en-US" sz="1200" spc="-25">
                          <a:effectLst/>
                        </a:rPr>
                        <a:t>1v</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835">
                        <a:lnSpc>
                          <a:spcPts val="1280"/>
                        </a:lnSpc>
                        <a:buNone/>
                      </a:pPr>
                      <a:r>
                        <a:rPr lang="en-US" sz="1200" spc="-10">
                          <a:effectLst/>
                        </a:rPr>
                        <a:t>10kohm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0">
                          <a:effectLst/>
                        </a:rPr>
                        <a:t>50uf</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7470">
                        <a:lnSpc>
                          <a:spcPts val="1280"/>
                        </a:lnSpc>
                        <a:buNone/>
                      </a:pPr>
                      <a:r>
                        <a:rPr lang="en-US" sz="1200" spc="-25" dirty="0">
                          <a:effectLst/>
                        </a:rPr>
                        <a:t>11v</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963107651"/>
                  </a:ext>
                </a:extLst>
              </a:tr>
            </a:tbl>
          </a:graphicData>
        </a:graphic>
      </p:graphicFrame>
    </p:spTree>
    <p:extLst>
      <p:ext uri="{BB962C8B-B14F-4D97-AF65-F5344CB8AC3E}">
        <p14:creationId xmlns:p14="http://schemas.microsoft.com/office/powerpoint/2010/main" val="92277295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A9F72-68B2-E364-7F46-3BA9E3840526}"/>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1336A045-9CF6-BEBC-38C3-D96614B40871}"/>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CF8A8257-FED9-47CC-C781-87A7E4384C8F}"/>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14</a:t>
            </a:fld>
            <a:endParaRPr lang="en-IN" sz="1200" b="0" strike="noStrike" spc="-1">
              <a:latin typeface="Times New Roman"/>
            </a:endParaRPr>
          </a:p>
        </p:txBody>
      </p:sp>
      <p:sp>
        <p:nvSpPr>
          <p:cNvPr id="197" name="CustomShape 3">
            <a:extLst>
              <a:ext uri="{FF2B5EF4-FFF2-40B4-BE49-F238E27FC236}">
                <a16:creationId xmlns:a16="http://schemas.microsoft.com/office/drawing/2014/main" id="{BB342DFD-8EE3-69E3-F4C4-36878FC647BF}"/>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F5C4120F-FE9B-45E8-7E9D-7DC499FF6E0C}"/>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71EE6B0B-06D9-86FB-6042-A8DA2B596509}"/>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DAC701F7-1676-7DB8-243C-FCBAF57CE510}"/>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6C67DF59-78FC-C2F4-2C15-4DD39909C579}"/>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1998A010-8765-192D-C677-F7A375FE7F83}"/>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8D7EF679-7256-FBED-310A-6EAA9CC7A9D3}"/>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44F8606A-226B-164A-01B2-C3231BDE9415}"/>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pic>
        <p:nvPicPr>
          <p:cNvPr id="5" name="Picture 4">
            <a:extLst>
              <a:ext uri="{FF2B5EF4-FFF2-40B4-BE49-F238E27FC236}">
                <a16:creationId xmlns:a16="http://schemas.microsoft.com/office/drawing/2014/main" id="{8DFDD832-C8D1-73C1-A3FE-7056E26A6C7D}"/>
              </a:ext>
            </a:extLst>
          </p:cNvPr>
          <p:cNvPicPr>
            <a:picLocks noChangeAspect="1"/>
          </p:cNvPicPr>
          <p:nvPr/>
        </p:nvPicPr>
        <p:blipFill>
          <a:blip r:embed="rId3"/>
          <a:stretch>
            <a:fillRect/>
          </a:stretch>
        </p:blipFill>
        <p:spPr>
          <a:xfrm>
            <a:off x="2209800" y="909000"/>
            <a:ext cx="7772400" cy="4862675"/>
          </a:xfrm>
          <a:prstGeom prst="rect">
            <a:avLst/>
          </a:prstGeom>
        </p:spPr>
      </p:pic>
      <p:sp>
        <p:nvSpPr>
          <p:cNvPr id="6" name="TextBox 5">
            <a:extLst>
              <a:ext uri="{FF2B5EF4-FFF2-40B4-BE49-F238E27FC236}">
                <a16:creationId xmlns:a16="http://schemas.microsoft.com/office/drawing/2014/main" id="{3E11C4CE-9DF8-19F0-FB25-66A578E41B1C}"/>
              </a:ext>
            </a:extLst>
          </p:cNvPr>
          <p:cNvSpPr txBox="1"/>
          <p:nvPr/>
        </p:nvSpPr>
        <p:spPr>
          <a:xfrm>
            <a:off x="4118383" y="5846622"/>
            <a:ext cx="3954993" cy="369332"/>
          </a:xfrm>
          <a:prstGeom prst="rect">
            <a:avLst/>
          </a:prstGeom>
          <a:noFill/>
        </p:spPr>
        <p:txBody>
          <a:bodyPr wrap="none" rtlCol="0">
            <a:spAutoFit/>
          </a:bodyPr>
          <a:lstStyle/>
          <a:p>
            <a:r>
              <a:rPr lang="en-IN" dirty="0"/>
              <a:t>RTL Design of DLDO using Cadence</a:t>
            </a:r>
          </a:p>
        </p:txBody>
      </p:sp>
    </p:spTree>
    <p:extLst>
      <p:ext uri="{BB962C8B-B14F-4D97-AF65-F5344CB8AC3E}">
        <p14:creationId xmlns:p14="http://schemas.microsoft.com/office/powerpoint/2010/main" val="64332072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F3B55-4364-3E8B-5C46-75A9105FAEEF}"/>
            </a:ext>
          </a:extLst>
        </p:cNvPr>
        <p:cNvGrpSpPr/>
        <p:nvPr/>
      </p:nvGrpSpPr>
      <p:grpSpPr>
        <a:xfrm>
          <a:off x="0" y="0"/>
          <a:ext cx="0" cy="0"/>
          <a:chOff x="0" y="0"/>
          <a:chExt cx="0" cy="0"/>
        </a:xfrm>
      </p:grpSpPr>
      <p:sp>
        <p:nvSpPr>
          <p:cNvPr id="194" name="TextShape 1">
            <a:extLst>
              <a:ext uri="{FF2B5EF4-FFF2-40B4-BE49-F238E27FC236}">
                <a16:creationId xmlns:a16="http://schemas.microsoft.com/office/drawing/2014/main" id="{8C2311F2-A95A-1ECE-BFE2-D5DC3C84DDA7}"/>
              </a:ext>
            </a:extLst>
          </p:cNvPr>
          <p:cNvSpPr txBox="1"/>
          <p:nvPr/>
        </p:nvSpPr>
        <p:spPr>
          <a:xfrm>
            <a:off x="2275200" y="255240"/>
            <a:ext cx="7641360" cy="442800"/>
          </a:xfrm>
          <a:prstGeom prst="rect">
            <a:avLst/>
          </a:prstGeom>
          <a:noFill/>
          <a:ln>
            <a:noFill/>
          </a:ln>
        </p:spPr>
        <p:txBody>
          <a:bodyPr lIns="0" tIns="0" rIns="0" bIns="0"/>
          <a:lstStyle/>
          <a:p>
            <a:pPr algn="ctr">
              <a:lnSpc>
                <a:spcPct val="90000"/>
              </a:lnSpc>
            </a:pPr>
            <a:r>
              <a:rPr lang="en-IN" sz="3200" b="1" strike="noStrike" spc="-1" dirty="0">
                <a:solidFill>
                  <a:srgbClr val="000000"/>
                </a:solidFill>
                <a:latin typeface="Times New Roman"/>
                <a:ea typeface="Arial"/>
              </a:rPr>
              <a:t>METHODOLOGY</a:t>
            </a:r>
            <a:endParaRPr lang="en-IN" sz="3200" b="0" strike="noStrike" spc="-1" dirty="0">
              <a:solidFill>
                <a:srgbClr val="000000"/>
              </a:solidFill>
              <a:latin typeface="Arial"/>
            </a:endParaRPr>
          </a:p>
        </p:txBody>
      </p:sp>
      <p:sp>
        <p:nvSpPr>
          <p:cNvPr id="195" name="TextShape 2">
            <a:extLst>
              <a:ext uri="{FF2B5EF4-FFF2-40B4-BE49-F238E27FC236}">
                <a16:creationId xmlns:a16="http://schemas.microsoft.com/office/drawing/2014/main" id="{AB7A2092-241F-79E6-C67E-9D3D505233E9}"/>
              </a:ext>
            </a:extLst>
          </p:cNvPr>
          <p:cNvSpPr txBox="1"/>
          <p:nvPr/>
        </p:nvSpPr>
        <p:spPr>
          <a:xfrm>
            <a:off x="8778240" y="6378120"/>
            <a:ext cx="2803680" cy="184320"/>
          </a:xfrm>
          <a:prstGeom prst="rect">
            <a:avLst/>
          </a:prstGeom>
          <a:noFill/>
          <a:ln>
            <a:noFill/>
          </a:ln>
        </p:spPr>
        <p:txBody>
          <a:bodyPr lIns="0" tIns="0" rIns="0" bIns="0"/>
          <a:lstStyle/>
          <a:p>
            <a:pPr algn="r">
              <a:lnSpc>
                <a:spcPct val="100000"/>
              </a:lnSpc>
            </a:pPr>
            <a:fld id="{FA6AD4B2-8879-4251-BF9E-789D8489B190}" type="slidenum">
              <a:rPr lang="en-IN" sz="1200" b="0" strike="noStrike" spc="-1">
                <a:solidFill>
                  <a:srgbClr val="888888"/>
                </a:solidFill>
                <a:latin typeface="Calibri"/>
                <a:ea typeface="Calibri"/>
              </a:rPr>
              <a:t>15</a:t>
            </a:fld>
            <a:endParaRPr lang="en-IN" sz="1200" b="0" strike="noStrike" spc="-1">
              <a:latin typeface="Times New Roman"/>
            </a:endParaRPr>
          </a:p>
        </p:txBody>
      </p:sp>
      <p:sp>
        <p:nvSpPr>
          <p:cNvPr id="197" name="CustomShape 3">
            <a:extLst>
              <a:ext uri="{FF2B5EF4-FFF2-40B4-BE49-F238E27FC236}">
                <a16:creationId xmlns:a16="http://schemas.microsoft.com/office/drawing/2014/main" id="{67730BB4-07FC-8636-3F4B-3D5232166069}"/>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grpSp>
        <p:nvGrpSpPr>
          <p:cNvPr id="198" name="Group 4">
            <a:extLst>
              <a:ext uri="{FF2B5EF4-FFF2-40B4-BE49-F238E27FC236}">
                <a16:creationId xmlns:a16="http://schemas.microsoft.com/office/drawing/2014/main" id="{837E8B83-60F9-8301-8CB3-177B1A8452E3}"/>
              </a:ext>
            </a:extLst>
          </p:cNvPr>
          <p:cNvGrpSpPr/>
          <p:nvPr/>
        </p:nvGrpSpPr>
        <p:grpSpPr>
          <a:xfrm>
            <a:off x="0" y="72000"/>
            <a:ext cx="12191760" cy="6785640"/>
            <a:chOff x="0" y="72000"/>
            <a:chExt cx="12191760" cy="6785640"/>
          </a:xfrm>
        </p:grpSpPr>
        <p:pic>
          <p:nvPicPr>
            <p:cNvPr id="199" name="Google Shape;115;p3">
              <a:extLst>
                <a:ext uri="{FF2B5EF4-FFF2-40B4-BE49-F238E27FC236}">
                  <a16:creationId xmlns:a16="http://schemas.microsoft.com/office/drawing/2014/main" id="{4344FE02-9600-A72C-FD54-42A4AE0026D2}"/>
                </a:ext>
              </a:extLst>
            </p:cNvPr>
            <p:cNvPicPr/>
            <p:nvPr/>
          </p:nvPicPr>
          <p:blipFill>
            <a:blip r:embed="rId2"/>
            <a:stretch/>
          </p:blipFill>
          <p:spPr>
            <a:xfrm>
              <a:off x="11211120" y="72000"/>
              <a:ext cx="830520" cy="809640"/>
            </a:xfrm>
            <a:prstGeom prst="rect">
              <a:avLst/>
            </a:prstGeom>
            <a:ln>
              <a:noFill/>
            </a:ln>
          </p:spPr>
        </p:pic>
        <p:sp>
          <p:nvSpPr>
            <p:cNvPr id="200" name="CustomShape 5">
              <a:extLst>
                <a:ext uri="{FF2B5EF4-FFF2-40B4-BE49-F238E27FC236}">
                  <a16:creationId xmlns:a16="http://schemas.microsoft.com/office/drawing/2014/main" id="{E6CDE9EB-7633-A942-ADE1-5CC5A0DF758F}"/>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1" name="CustomShape 6">
              <a:extLst>
                <a:ext uri="{FF2B5EF4-FFF2-40B4-BE49-F238E27FC236}">
                  <a16:creationId xmlns:a16="http://schemas.microsoft.com/office/drawing/2014/main" id="{063B86F2-3290-58A8-63D0-5B0DFC08D397}"/>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2" name="CustomShape 7">
              <a:extLst>
                <a:ext uri="{FF2B5EF4-FFF2-40B4-BE49-F238E27FC236}">
                  <a16:creationId xmlns:a16="http://schemas.microsoft.com/office/drawing/2014/main" id="{2256DAA5-E02D-FBED-653A-F734706325D7}"/>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3" name="CustomShape 8">
              <a:extLst>
                <a:ext uri="{FF2B5EF4-FFF2-40B4-BE49-F238E27FC236}">
                  <a16:creationId xmlns:a16="http://schemas.microsoft.com/office/drawing/2014/main" id="{D6995E8E-C541-D177-EE82-A22F63C773BF}"/>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04" name="CustomShape 9">
            <a:extLst>
              <a:ext uri="{FF2B5EF4-FFF2-40B4-BE49-F238E27FC236}">
                <a16:creationId xmlns:a16="http://schemas.microsoft.com/office/drawing/2014/main" id="{17FCF482-BF23-5C81-E3AF-2B775583D319}"/>
              </a:ext>
            </a:extLst>
          </p:cNvPr>
          <p:cNvSpPr/>
          <p:nvPr/>
        </p:nvSpPr>
        <p:spPr>
          <a:xfrm>
            <a:off x="3453480" y="6450480"/>
            <a:ext cx="8461080" cy="3952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Arial"/>
            </a:endParaRPr>
          </a:p>
        </p:txBody>
      </p:sp>
      <p:pic>
        <p:nvPicPr>
          <p:cNvPr id="2" name="Image 80">
            <a:extLst>
              <a:ext uri="{FF2B5EF4-FFF2-40B4-BE49-F238E27FC236}">
                <a16:creationId xmlns:a16="http://schemas.microsoft.com/office/drawing/2014/main" id="{128E40F6-FABA-2E47-F3D2-C51BA07A6B7F}"/>
              </a:ext>
            </a:extLst>
          </p:cNvPr>
          <p:cNvPicPr>
            <a:picLocks/>
          </p:cNvPicPr>
          <p:nvPr/>
        </p:nvPicPr>
        <p:blipFill>
          <a:blip r:embed="rId3" cstate="print"/>
          <a:stretch>
            <a:fillRect/>
          </a:stretch>
        </p:blipFill>
        <p:spPr>
          <a:xfrm>
            <a:off x="653165" y="1019880"/>
            <a:ext cx="10557955" cy="4524037"/>
          </a:xfrm>
          <a:prstGeom prst="rect">
            <a:avLst/>
          </a:prstGeom>
        </p:spPr>
      </p:pic>
      <p:sp>
        <p:nvSpPr>
          <p:cNvPr id="3" name="TextBox 2">
            <a:extLst>
              <a:ext uri="{FF2B5EF4-FFF2-40B4-BE49-F238E27FC236}">
                <a16:creationId xmlns:a16="http://schemas.microsoft.com/office/drawing/2014/main" id="{8FB33260-9AE3-E35F-CA80-1F1707C0E4B2}"/>
              </a:ext>
            </a:extLst>
          </p:cNvPr>
          <p:cNvSpPr txBox="1"/>
          <p:nvPr/>
        </p:nvSpPr>
        <p:spPr>
          <a:xfrm>
            <a:off x="3921727" y="5712813"/>
            <a:ext cx="4348306" cy="369332"/>
          </a:xfrm>
          <a:prstGeom prst="rect">
            <a:avLst/>
          </a:prstGeom>
          <a:noFill/>
        </p:spPr>
        <p:txBody>
          <a:bodyPr wrap="none" rtlCol="0">
            <a:spAutoFit/>
          </a:bodyPr>
          <a:lstStyle/>
          <a:p>
            <a:r>
              <a:rPr lang="en-IN" dirty="0"/>
              <a:t>Output of DLDO using Cadence Virtuoso</a:t>
            </a:r>
          </a:p>
        </p:txBody>
      </p:sp>
    </p:spTree>
    <p:extLst>
      <p:ext uri="{BB962C8B-B14F-4D97-AF65-F5344CB8AC3E}">
        <p14:creationId xmlns:p14="http://schemas.microsoft.com/office/powerpoint/2010/main" val="417644840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B357-FEB5-A28E-4560-EED51FEBB82A}"/>
            </a:ext>
          </a:extLst>
        </p:cNvPr>
        <p:cNvGrpSpPr/>
        <p:nvPr/>
      </p:nvGrpSpPr>
      <p:grpSpPr>
        <a:xfrm>
          <a:off x="0" y="0"/>
          <a:ext cx="0" cy="0"/>
          <a:chOff x="0" y="0"/>
          <a:chExt cx="0" cy="0"/>
        </a:xfrm>
      </p:grpSpPr>
      <p:grpSp>
        <p:nvGrpSpPr>
          <p:cNvPr id="205" name="Group 1">
            <a:extLst>
              <a:ext uri="{FF2B5EF4-FFF2-40B4-BE49-F238E27FC236}">
                <a16:creationId xmlns:a16="http://schemas.microsoft.com/office/drawing/2014/main" id="{BE1A9285-27CC-B15A-2771-3D3E60E98BD0}"/>
              </a:ext>
            </a:extLst>
          </p:cNvPr>
          <p:cNvGrpSpPr/>
          <p:nvPr/>
        </p:nvGrpSpPr>
        <p:grpSpPr>
          <a:xfrm>
            <a:off x="0" y="72000"/>
            <a:ext cx="12191760" cy="6785640"/>
            <a:chOff x="0" y="72000"/>
            <a:chExt cx="12191760" cy="6785640"/>
          </a:xfrm>
        </p:grpSpPr>
        <p:pic>
          <p:nvPicPr>
            <p:cNvPr id="206" name="Google Shape;115;p3">
              <a:extLst>
                <a:ext uri="{FF2B5EF4-FFF2-40B4-BE49-F238E27FC236}">
                  <a16:creationId xmlns:a16="http://schemas.microsoft.com/office/drawing/2014/main" id="{C6EDEA40-53D0-8757-C6A7-D69C399E1A82}"/>
                </a:ext>
              </a:extLst>
            </p:cNvPr>
            <p:cNvPicPr/>
            <p:nvPr/>
          </p:nvPicPr>
          <p:blipFill>
            <a:blip r:embed="rId2"/>
            <a:stretch/>
          </p:blipFill>
          <p:spPr>
            <a:xfrm>
              <a:off x="11211120" y="72000"/>
              <a:ext cx="830520" cy="809640"/>
            </a:xfrm>
            <a:prstGeom prst="rect">
              <a:avLst/>
            </a:prstGeom>
            <a:ln>
              <a:noFill/>
            </a:ln>
          </p:spPr>
        </p:pic>
        <p:sp>
          <p:nvSpPr>
            <p:cNvPr id="207" name="CustomShape 2">
              <a:extLst>
                <a:ext uri="{FF2B5EF4-FFF2-40B4-BE49-F238E27FC236}">
                  <a16:creationId xmlns:a16="http://schemas.microsoft.com/office/drawing/2014/main" id="{06E5991E-6201-D444-CB1F-5874B421D3C0}"/>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8" name="CustomShape 3">
              <a:extLst>
                <a:ext uri="{FF2B5EF4-FFF2-40B4-BE49-F238E27FC236}">
                  <a16:creationId xmlns:a16="http://schemas.microsoft.com/office/drawing/2014/main" id="{62A27FFA-5DB7-86A2-32E0-62252B59ECA1}"/>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9" name="CustomShape 4">
              <a:extLst>
                <a:ext uri="{FF2B5EF4-FFF2-40B4-BE49-F238E27FC236}">
                  <a16:creationId xmlns:a16="http://schemas.microsoft.com/office/drawing/2014/main" id="{DC339350-75D4-207E-5ECB-6C5A3D7523F4}"/>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10" name="CustomShape 5">
              <a:extLst>
                <a:ext uri="{FF2B5EF4-FFF2-40B4-BE49-F238E27FC236}">
                  <a16:creationId xmlns:a16="http://schemas.microsoft.com/office/drawing/2014/main" id="{0FBAC78B-D4F9-3B15-F6B3-4B7731F34E07}"/>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11" name="TextShape 6">
            <a:extLst>
              <a:ext uri="{FF2B5EF4-FFF2-40B4-BE49-F238E27FC236}">
                <a16:creationId xmlns:a16="http://schemas.microsoft.com/office/drawing/2014/main" id="{B8B9CC50-0176-0F94-5602-2426DEAD603E}"/>
              </a:ext>
            </a:extLst>
          </p:cNvPr>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212" name="CustomShape 7">
            <a:extLst>
              <a:ext uri="{FF2B5EF4-FFF2-40B4-BE49-F238E27FC236}">
                <a16:creationId xmlns:a16="http://schemas.microsoft.com/office/drawing/2014/main" id="{73606CF4-1BFD-8F2A-908E-46BB1CDC1849}"/>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214" name="CustomShape 9">
            <a:extLst>
              <a:ext uri="{FF2B5EF4-FFF2-40B4-BE49-F238E27FC236}">
                <a16:creationId xmlns:a16="http://schemas.microsoft.com/office/drawing/2014/main" id="{F485D571-488D-EA39-B9B1-8CC746EBFBC3}"/>
              </a:ext>
            </a:extLst>
          </p:cNvPr>
          <p:cNvSpPr/>
          <p:nvPr/>
        </p:nvSpPr>
        <p:spPr>
          <a:xfrm>
            <a:off x="1451520" y="23580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dirty="0">
                <a:solidFill>
                  <a:srgbClr val="000000"/>
                </a:solidFill>
                <a:latin typeface="Calibri"/>
                <a:ea typeface="Calibri"/>
              </a:rPr>
              <a:t>                                                                 </a:t>
            </a:r>
            <a:r>
              <a:rPr lang="en-IN" sz="3600" b="1" strike="noStrike" spc="-1" dirty="0">
                <a:solidFill>
                  <a:srgbClr val="000000"/>
                </a:solidFill>
                <a:latin typeface="Times New Roman"/>
                <a:ea typeface="Calibri"/>
              </a:rPr>
              <a:t>CONCLUSION</a:t>
            </a:r>
            <a:endParaRPr lang="en-IN" sz="3600" b="0" strike="noStrike" spc="-1" dirty="0">
              <a:latin typeface="Arial"/>
            </a:endParaRPr>
          </a:p>
        </p:txBody>
      </p:sp>
      <p:sp>
        <p:nvSpPr>
          <p:cNvPr id="4" name="TextBox 3">
            <a:extLst>
              <a:ext uri="{FF2B5EF4-FFF2-40B4-BE49-F238E27FC236}">
                <a16:creationId xmlns:a16="http://schemas.microsoft.com/office/drawing/2014/main" id="{75974DCC-692A-C678-52CB-9C9591C50F28}"/>
              </a:ext>
            </a:extLst>
          </p:cNvPr>
          <p:cNvSpPr txBox="1"/>
          <p:nvPr/>
        </p:nvSpPr>
        <p:spPr>
          <a:xfrm>
            <a:off x="670716" y="1211124"/>
            <a:ext cx="11370924" cy="4625882"/>
          </a:xfrm>
          <a:prstGeom prst="rect">
            <a:avLst/>
          </a:prstGeom>
          <a:noFill/>
        </p:spPr>
        <p:txBody>
          <a:bodyPr wrap="square">
            <a:spAutoFit/>
          </a:bodyPr>
          <a:lstStyle/>
          <a:p>
            <a:pPr marL="228600" marR="484505" algn="just">
              <a:lnSpc>
                <a:spcPct val="150000"/>
              </a:lnSpc>
              <a:buNone/>
            </a:pPr>
            <a:r>
              <a:rPr lang="en-US" dirty="0">
                <a:effectLst/>
                <a:latin typeface="Times New Roman" panose="02020603050405020304" pitchFamily="18" charset="0"/>
                <a:ea typeface="Times New Roman" panose="02020603050405020304" pitchFamily="18" charset="0"/>
              </a:rPr>
              <a:t>The objective of designing a low-power Digital Low Dropout Regulator (DLDO) was successfully achieved in this mini-project. The DLDO architecture, implemented using MATLAB for functional modeling and Cadence Virtuoso for transistor-level simulation, demonstrated stable voltage regulation with minimal ripple and efficient power control.</a:t>
            </a:r>
            <a:endParaRPr lang="en-IN" dirty="0">
              <a:effectLst/>
              <a:latin typeface="Times New Roman" panose="02020603050405020304" pitchFamily="18" charset="0"/>
              <a:ea typeface="Times New Roman" panose="02020603050405020304" pitchFamily="18" charset="0"/>
            </a:endParaRPr>
          </a:p>
          <a:p>
            <a:pPr marL="228600" marR="484505" algn="just">
              <a:lnSpc>
                <a:spcPct val="150000"/>
              </a:lnSpc>
              <a:spcBef>
                <a:spcPts val="65"/>
              </a:spcBef>
              <a:buNone/>
            </a:pPr>
            <a:r>
              <a:rPr lang="en-US" dirty="0">
                <a:effectLst/>
                <a:latin typeface="Times New Roman" panose="02020603050405020304" pitchFamily="18" charset="0"/>
                <a:ea typeface="Times New Roman" panose="02020603050405020304" pitchFamily="18" charset="0"/>
              </a:rPr>
              <a:t>The MATLAB model verified the logical operation of the comparator, digital control logic, and PMOS switching network. The Cadence implementation further confirmed that the regulator maintains a stable output voltage even under clock-driven switching conditions. The transient analysis showed smooth regulation without overshoot, undershoot, or instability, validating the effectiveness of the design.</a:t>
            </a:r>
            <a:endParaRPr lang="en-IN" dirty="0">
              <a:effectLst/>
              <a:latin typeface="Times New Roman" panose="02020603050405020304" pitchFamily="18" charset="0"/>
              <a:ea typeface="Times New Roman" panose="02020603050405020304" pitchFamily="18" charset="0"/>
            </a:endParaRPr>
          </a:p>
          <a:p>
            <a:pPr marL="228600" marR="491490" algn="just">
              <a:lnSpc>
                <a:spcPct val="150000"/>
              </a:lnSpc>
              <a:buNone/>
            </a:pPr>
            <a:r>
              <a:rPr lang="en-US" dirty="0">
                <a:effectLst/>
                <a:latin typeface="Times New Roman" panose="02020603050405020304" pitchFamily="18" charset="0"/>
                <a:ea typeface="Times New Roman" panose="02020603050405020304" pitchFamily="18" charset="0"/>
              </a:rPr>
              <a:t>Overall, the DLDO meets the requirements of low-power operation, reduced heat generation, and improved</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battery</a:t>
            </a:r>
            <a:r>
              <a:rPr lang="en-US" spc="-4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efficiency.</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This</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makes</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it</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highly</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suitable</a:t>
            </a:r>
            <a:r>
              <a:rPr lang="en-US" spc="-4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for</a:t>
            </a:r>
            <a:r>
              <a:rPr lang="en-US" spc="-5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portable</a:t>
            </a:r>
            <a:r>
              <a:rPr lang="en-US" spc="-3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electronics,</a:t>
            </a:r>
            <a:r>
              <a:rPr lang="en-US" spc="-4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embedded</a:t>
            </a:r>
            <a:r>
              <a:rPr lang="en-US" spc="-4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processors, and energy-efficient VLSI systems.</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058570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 name="Group 1"/>
          <p:cNvGrpSpPr/>
          <p:nvPr/>
        </p:nvGrpSpPr>
        <p:grpSpPr>
          <a:xfrm>
            <a:off x="0" y="72000"/>
            <a:ext cx="12191760" cy="6785640"/>
            <a:chOff x="0" y="72000"/>
            <a:chExt cx="12191760" cy="6785640"/>
          </a:xfrm>
        </p:grpSpPr>
        <p:pic>
          <p:nvPicPr>
            <p:cNvPr id="206" name="Google Shape;115;p3"/>
            <p:cNvPicPr/>
            <p:nvPr/>
          </p:nvPicPr>
          <p:blipFill>
            <a:blip r:embed="rId2"/>
            <a:stretch/>
          </p:blipFill>
          <p:spPr>
            <a:xfrm>
              <a:off x="11211120" y="72000"/>
              <a:ext cx="830520" cy="809640"/>
            </a:xfrm>
            <a:prstGeom prst="rect">
              <a:avLst/>
            </a:prstGeom>
            <a:ln>
              <a:noFill/>
            </a:ln>
          </p:spPr>
        </p:pic>
        <p:sp>
          <p:nvSpPr>
            <p:cNvPr id="207"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8"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9"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10"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11"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212" name="CustomShape 7"/>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214" name="CustomShape 9"/>
          <p:cNvSpPr/>
          <p:nvPr/>
        </p:nvSpPr>
        <p:spPr>
          <a:xfrm>
            <a:off x="1451520" y="23580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a:solidFill>
                  <a:srgbClr val="000000"/>
                </a:solidFill>
                <a:latin typeface="Calibri"/>
                <a:ea typeface="Calibri"/>
              </a:rPr>
              <a:t>                                                                 </a:t>
            </a:r>
            <a:r>
              <a:rPr lang="en-IN" sz="3600" b="1" strike="noStrike" spc="-1">
                <a:solidFill>
                  <a:srgbClr val="000000"/>
                </a:solidFill>
                <a:latin typeface="Times New Roman"/>
                <a:ea typeface="Calibri"/>
              </a:rPr>
              <a:t>REFERENCES</a:t>
            </a:r>
            <a:endParaRPr lang="en-IN" sz="3600" b="0" strike="noStrike" spc="-1">
              <a:latin typeface="Arial"/>
            </a:endParaRPr>
          </a:p>
        </p:txBody>
      </p:sp>
      <p:sp>
        <p:nvSpPr>
          <p:cNvPr id="5" name="TextBox 4">
            <a:extLst>
              <a:ext uri="{FF2B5EF4-FFF2-40B4-BE49-F238E27FC236}">
                <a16:creationId xmlns:a16="http://schemas.microsoft.com/office/drawing/2014/main" id="{1B8AFE8B-13B6-A6C9-03F4-9734E03D57B7}"/>
              </a:ext>
            </a:extLst>
          </p:cNvPr>
          <p:cNvSpPr txBox="1"/>
          <p:nvPr/>
        </p:nvSpPr>
        <p:spPr>
          <a:xfrm>
            <a:off x="44712" y="905778"/>
            <a:ext cx="11996928" cy="5420843"/>
          </a:xfrm>
          <a:prstGeom prst="rect">
            <a:avLst/>
          </a:prstGeom>
          <a:noFill/>
        </p:spPr>
        <p:txBody>
          <a:bodyPr wrap="square">
            <a:spAutoFit/>
          </a:bodyPr>
          <a:lstStyle/>
          <a:p>
            <a:pPr marL="527050" marR="730250" algn="just">
              <a:lnSpc>
                <a:spcPct val="115000"/>
              </a:lnSpc>
              <a:spcBef>
                <a:spcPts val="1255"/>
              </a:spcBef>
              <a:buNone/>
            </a:pPr>
            <a:r>
              <a:rPr lang="en-US" sz="1600" dirty="0">
                <a:effectLst/>
                <a:latin typeface="Times New Roman" panose="02020603050405020304" pitchFamily="18" charset="0"/>
                <a:ea typeface="Times New Roman" panose="02020603050405020304" pitchFamily="18" charset="0"/>
              </a:rPr>
              <a:t>[1]. Yasuyuki Okuma et al., "0.5-V input digital LDO with 98.7% current efficiency and 2.7- µA</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quiescent</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current</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65nm</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CMOS,"</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IEEE</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Custom</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Integrated</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Circuits</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Conference</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2010,</a:t>
            </a:r>
            <a:r>
              <a:rPr lang="en-US" sz="1600" spc="1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San Jose, CA, 2010, pp. 1-4,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 10.1109/CICC.2010.5617586.</a:t>
            </a:r>
            <a:endParaRPr lang="en-IN" sz="1600" dirty="0">
              <a:effectLst/>
              <a:latin typeface="Times New Roman" panose="02020603050405020304" pitchFamily="18" charset="0"/>
              <a:ea typeface="Times New Roman" panose="02020603050405020304" pitchFamily="18" charset="0"/>
            </a:endParaRPr>
          </a:p>
          <a:p>
            <a:pPr marL="527050" marR="725805" algn="just">
              <a:lnSpc>
                <a:spcPct val="115000"/>
              </a:lnSpc>
              <a:spcBef>
                <a:spcPts val="1240"/>
              </a:spcBef>
              <a:buNone/>
            </a:pPr>
            <a:r>
              <a:rPr lang="en-US" sz="1600" dirty="0">
                <a:effectLst/>
                <a:latin typeface="Times New Roman" panose="02020603050405020304" pitchFamily="18" charset="0"/>
                <a:ea typeface="Times New Roman" panose="02020603050405020304" pitchFamily="18" charset="0"/>
              </a:rPr>
              <a:t>[2].Design and Verification of Low-Power Integrated Circuits," in IEC 61523-4 Edition 1.0 2015-03 (IEEE Std 1801-2013), vol.,no.,pp.1-351, 24 March 2015, </a:t>
            </a:r>
            <a:r>
              <a:rPr lang="en-US" sz="1600" spc="-10" dirty="0">
                <a:effectLst/>
                <a:latin typeface="Times New Roman" panose="02020603050405020304" pitchFamily="18" charset="0"/>
                <a:ea typeface="Times New Roman" panose="02020603050405020304" pitchFamily="18" charset="0"/>
              </a:rPr>
              <a:t>doi:10.1109/IEEESTD.2015.7076554.</a:t>
            </a:r>
            <a:endParaRPr lang="en-IN" sz="1600" dirty="0">
              <a:effectLst/>
              <a:latin typeface="Times New Roman" panose="02020603050405020304" pitchFamily="18" charset="0"/>
              <a:ea typeface="Times New Roman" panose="02020603050405020304" pitchFamily="18" charset="0"/>
            </a:endParaRPr>
          </a:p>
          <a:p>
            <a:pPr marL="527050" marR="725805" algn="just">
              <a:lnSpc>
                <a:spcPct val="115000"/>
              </a:lnSpc>
              <a:spcBef>
                <a:spcPts val="1265"/>
              </a:spcBef>
              <a:buNone/>
            </a:pPr>
            <a:r>
              <a:rPr lang="en-US" sz="1600" dirty="0">
                <a:effectLst/>
                <a:latin typeface="Times New Roman" panose="02020603050405020304" pitchFamily="18" charset="0"/>
                <a:ea typeface="Times New Roman" panose="02020603050405020304" pitchFamily="18" charset="0"/>
              </a:rPr>
              <a:t>[3].Y. -H. Lee et al., "A Low Quiescent Current Asynchronous Digital-LDO With PLL- Modulated</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Fast-DVS</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Power</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Management</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40</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nm</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SoC</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for</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MIPS</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Performance</a:t>
            </a:r>
            <a:r>
              <a:rPr lang="en-US" sz="1600" spc="1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Improvement," in IEEE Journal of Solid-State Circuits, vol. 48, no. 4, pp. 1018-1030, April 2016,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10.1109/JSSC.2013.2237991.</a:t>
            </a:r>
            <a:endParaRPr lang="en-IN" sz="1600" dirty="0">
              <a:effectLst/>
              <a:latin typeface="Times New Roman" panose="02020603050405020304" pitchFamily="18" charset="0"/>
              <a:ea typeface="Times New Roman" panose="02020603050405020304" pitchFamily="18" charset="0"/>
            </a:endParaRPr>
          </a:p>
          <a:p>
            <a:pPr marL="527050" marR="730250" algn="just">
              <a:lnSpc>
                <a:spcPct val="115000"/>
              </a:lnSpc>
              <a:spcBef>
                <a:spcPts val="1265"/>
              </a:spcBef>
              <a:buNone/>
            </a:pPr>
            <a:r>
              <a:rPr lang="en-US" sz="1600" dirty="0">
                <a:effectLst/>
                <a:latin typeface="Times New Roman" panose="02020603050405020304" pitchFamily="18" charset="0"/>
                <a:ea typeface="Times New Roman" panose="02020603050405020304" pitchFamily="18" charset="0"/>
              </a:rPr>
              <a:t>[4].</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Huang,</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Y.</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Lu,</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Sin,</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Martins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Ki,</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"Limit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Cycle</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Oscillation Reduction</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for</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Digital</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Low</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Dropout</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Regulators,"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IEEE</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Transactions</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on</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Circuits</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Systems II: Express Briefs, vol. 63, no. 9, pp. 903-907, Sept. 2016,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 10.1109/TCSII.2016.2534778.</a:t>
            </a:r>
            <a:endParaRPr lang="en-IN" sz="1600" dirty="0">
              <a:effectLst/>
              <a:latin typeface="Times New Roman" panose="02020603050405020304" pitchFamily="18" charset="0"/>
              <a:ea typeface="Times New Roman" panose="02020603050405020304" pitchFamily="18" charset="0"/>
            </a:endParaRPr>
          </a:p>
          <a:p>
            <a:pPr marL="527050" marR="734060" algn="just">
              <a:lnSpc>
                <a:spcPct val="115000"/>
              </a:lnSpc>
              <a:spcBef>
                <a:spcPts val="1275"/>
              </a:spcBef>
              <a:buNone/>
            </a:pPr>
            <a:r>
              <a:rPr lang="en-US" sz="1600" dirty="0">
                <a:effectLst/>
                <a:latin typeface="Times New Roman" panose="02020603050405020304" pitchFamily="18" charset="0"/>
                <a:ea typeface="Times New Roman" panose="02020603050405020304" pitchFamily="18" charset="0"/>
              </a:rPr>
              <a:t>[5].</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Yang</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K.</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Mok,</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Nanosecond-Transient</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Fine-Grained</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Digital</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LDO</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With</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Multi- Step Switching Scheme and Asynchronous Adaptive Pipeline Control," in IEEE Journal of Solid-State</a:t>
            </a:r>
            <a:r>
              <a:rPr lang="en-US" sz="1600" spc="-8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Circuits,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vol.</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52,</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no.</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9,</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pp.</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2463-2474,</a:t>
            </a:r>
            <a:r>
              <a:rPr lang="en-US" sz="1600" spc="-7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Sept.</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2017,</a:t>
            </a:r>
            <a:r>
              <a:rPr lang="en-US" sz="1600" spc="-65"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a:t>
            </a:r>
            <a:r>
              <a:rPr lang="en-US" sz="1600" spc="-5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10.1109/JSSC.2017.2709311.</a:t>
            </a:r>
            <a:endParaRPr lang="en-IN" sz="1600" dirty="0">
              <a:effectLst/>
              <a:latin typeface="Times New Roman" panose="02020603050405020304" pitchFamily="18" charset="0"/>
              <a:ea typeface="Times New Roman" panose="02020603050405020304" pitchFamily="18" charset="0"/>
            </a:endParaRPr>
          </a:p>
          <a:p>
            <a:pPr marL="527050" marR="744220" algn="just">
              <a:lnSpc>
                <a:spcPct val="115000"/>
              </a:lnSpc>
              <a:spcBef>
                <a:spcPts val="1250"/>
              </a:spcBef>
              <a:buNone/>
            </a:pPr>
            <a:r>
              <a:rPr lang="en-US" sz="1600" dirty="0">
                <a:effectLst/>
                <a:latin typeface="Times New Roman" panose="02020603050405020304" pitchFamily="18" charset="0"/>
                <a:ea typeface="Times New Roman" panose="02020603050405020304" pitchFamily="18" charset="0"/>
              </a:rPr>
              <a:t>[6].B. Padmavathi, B. T. Geetha and K. Bhuvaneshwari, "Low power design techniques and implementation strategies adopted in VLSI circuits," 2017 IEEE International Conference on Power, Control, Signals and Instrumentation Engineering (ICPCSI), Chennai, India, 2017, pp. 1764-1767,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 10.1109/ICPCSI.2017.8392017.</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A32A9-0931-FB4D-D753-14F4130C2E96}"/>
            </a:ext>
          </a:extLst>
        </p:cNvPr>
        <p:cNvGrpSpPr/>
        <p:nvPr/>
      </p:nvGrpSpPr>
      <p:grpSpPr>
        <a:xfrm>
          <a:off x="0" y="0"/>
          <a:ext cx="0" cy="0"/>
          <a:chOff x="0" y="0"/>
          <a:chExt cx="0" cy="0"/>
        </a:xfrm>
      </p:grpSpPr>
      <p:grpSp>
        <p:nvGrpSpPr>
          <p:cNvPr id="205" name="Group 1">
            <a:extLst>
              <a:ext uri="{FF2B5EF4-FFF2-40B4-BE49-F238E27FC236}">
                <a16:creationId xmlns:a16="http://schemas.microsoft.com/office/drawing/2014/main" id="{A450EE44-FA09-B75D-E428-72B2DCC5697F}"/>
              </a:ext>
            </a:extLst>
          </p:cNvPr>
          <p:cNvGrpSpPr/>
          <p:nvPr/>
        </p:nvGrpSpPr>
        <p:grpSpPr>
          <a:xfrm>
            <a:off x="0" y="72000"/>
            <a:ext cx="12191760" cy="6785640"/>
            <a:chOff x="0" y="72000"/>
            <a:chExt cx="12191760" cy="6785640"/>
          </a:xfrm>
        </p:grpSpPr>
        <p:pic>
          <p:nvPicPr>
            <p:cNvPr id="206" name="Google Shape;115;p3">
              <a:extLst>
                <a:ext uri="{FF2B5EF4-FFF2-40B4-BE49-F238E27FC236}">
                  <a16:creationId xmlns:a16="http://schemas.microsoft.com/office/drawing/2014/main" id="{6B884F4F-7283-501E-7D20-5EB085876F32}"/>
                </a:ext>
              </a:extLst>
            </p:cNvPr>
            <p:cNvPicPr/>
            <p:nvPr/>
          </p:nvPicPr>
          <p:blipFill>
            <a:blip r:embed="rId2"/>
            <a:stretch/>
          </p:blipFill>
          <p:spPr>
            <a:xfrm>
              <a:off x="11211120" y="72000"/>
              <a:ext cx="830520" cy="809640"/>
            </a:xfrm>
            <a:prstGeom prst="rect">
              <a:avLst/>
            </a:prstGeom>
            <a:ln>
              <a:noFill/>
            </a:ln>
          </p:spPr>
        </p:pic>
        <p:sp>
          <p:nvSpPr>
            <p:cNvPr id="207" name="CustomShape 2">
              <a:extLst>
                <a:ext uri="{FF2B5EF4-FFF2-40B4-BE49-F238E27FC236}">
                  <a16:creationId xmlns:a16="http://schemas.microsoft.com/office/drawing/2014/main" id="{F32A078D-EB7E-02E9-06CC-09551E21C915}"/>
                </a:ext>
              </a:extLst>
            </p:cNvPr>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08" name="CustomShape 3">
              <a:extLst>
                <a:ext uri="{FF2B5EF4-FFF2-40B4-BE49-F238E27FC236}">
                  <a16:creationId xmlns:a16="http://schemas.microsoft.com/office/drawing/2014/main" id="{2CCCB265-B374-6FDD-1524-8B6D92202687}"/>
                </a:ext>
              </a:extLst>
            </p:cNvPr>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09" name="CustomShape 4">
              <a:extLst>
                <a:ext uri="{FF2B5EF4-FFF2-40B4-BE49-F238E27FC236}">
                  <a16:creationId xmlns:a16="http://schemas.microsoft.com/office/drawing/2014/main" id="{EF422969-F375-053A-99A5-871E2355002D}"/>
                </a:ext>
              </a:extLst>
            </p:cNvPr>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10" name="CustomShape 5">
              <a:extLst>
                <a:ext uri="{FF2B5EF4-FFF2-40B4-BE49-F238E27FC236}">
                  <a16:creationId xmlns:a16="http://schemas.microsoft.com/office/drawing/2014/main" id="{D6AC556F-B419-E076-CADC-DE92A9B8E0DB}"/>
                </a:ext>
              </a:extLst>
            </p:cNvPr>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11" name="TextShape 6">
            <a:extLst>
              <a:ext uri="{FF2B5EF4-FFF2-40B4-BE49-F238E27FC236}">
                <a16:creationId xmlns:a16="http://schemas.microsoft.com/office/drawing/2014/main" id="{B4F560A2-D954-D0CA-16E3-0582A08A5234}"/>
              </a:ext>
            </a:extLst>
          </p:cNvPr>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212" name="CustomShape 7">
            <a:extLst>
              <a:ext uri="{FF2B5EF4-FFF2-40B4-BE49-F238E27FC236}">
                <a16:creationId xmlns:a16="http://schemas.microsoft.com/office/drawing/2014/main" id="{24969AB6-5FD7-1440-4A17-CA2340C018AA}"/>
              </a:ext>
            </a:extLst>
          </p:cNvPr>
          <p:cNvSpPr/>
          <p:nvPr/>
        </p:nvSpPr>
        <p:spPr>
          <a:xfrm>
            <a:off x="0" y="836280"/>
            <a:ext cx="12191760" cy="45360"/>
          </a:xfrm>
          <a:prstGeom prst="rect">
            <a:avLst/>
          </a:prstGeom>
          <a:solidFill>
            <a:srgbClr val="002060"/>
          </a:solidFill>
          <a:ln w="12600">
            <a:solidFill>
              <a:srgbClr val="00B0F0"/>
            </a:solidFill>
            <a:miter/>
          </a:ln>
        </p:spPr>
        <p:style>
          <a:lnRef idx="0">
            <a:scrgbClr r="0" g="0" b="0"/>
          </a:lnRef>
          <a:fillRef idx="0">
            <a:scrgbClr r="0" g="0" b="0"/>
          </a:fillRef>
          <a:effectRef idx="0">
            <a:scrgbClr r="0" g="0" b="0"/>
          </a:effectRef>
          <a:fontRef idx="minor"/>
        </p:style>
      </p:sp>
      <p:sp>
        <p:nvSpPr>
          <p:cNvPr id="214" name="CustomShape 9">
            <a:extLst>
              <a:ext uri="{FF2B5EF4-FFF2-40B4-BE49-F238E27FC236}">
                <a16:creationId xmlns:a16="http://schemas.microsoft.com/office/drawing/2014/main" id="{11C471A8-6F49-EFF1-8E5E-174AA5D240EC}"/>
              </a:ext>
            </a:extLst>
          </p:cNvPr>
          <p:cNvSpPr/>
          <p:nvPr/>
        </p:nvSpPr>
        <p:spPr>
          <a:xfrm>
            <a:off x="1451520" y="235800"/>
            <a:ext cx="910800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400" b="0" strike="noStrike" spc="-1">
                <a:solidFill>
                  <a:srgbClr val="000000"/>
                </a:solidFill>
                <a:latin typeface="Calibri"/>
                <a:ea typeface="Calibri"/>
              </a:rPr>
              <a:t>                                                                 </a:t>
            </a:r>
            <a:r>
              <a:rPr lang="en-IN" sz="3600" b="1" strike="noStrike" spc="-1">
                <a:solidFill>
                  <a:srgbClr val="000000"/>
                </a:solidFill>
                <a:latin typeface="Times New Roman"/>
                <a:ea typeface="Calibri"/>
              </a:rPr>
              <a:t>REFERENCES</a:t>
            </a:r>
            <a:endParaRPr lang="en-IN" sz="3600" b="0" strike="noStrike" spc="-1">
              <a:latin typeface="Arial"/>
            </a:endParaRPr>
          </a:p>
        </p:txBody>
      </p:sp>
      <p:sp>
        <p:nvSpPr>
          <p:cNvPr id="3" name="TextBox 2">
            <a:extLst>
              <a:ext uri="{FF2B5EF4-FFF2-40B4-BE49-F238E27FC236}">
                <a16:creationId xmlns:a16="http://schemas.microsoft.com/office/drawing/2014/main" id="{5D79951C-F1C6-4414-3768-496A12099E01}"/>
              </a:ext>
            </a:extLst>
          </p:cNvPr>
          <p:cNvSpPr txBox="1"/>
          <p:nvPr/>
        </p:nvSpPr>
        <p:spPr>
          <a:xfrm>
            <a:off x="1122834" y="1426644"/>
            <a:ext cx="9946332" cy="4004712"/>
          </a:xfrm>
          <a:prstGeom prst="rect">
            <a:avLst/>
          </a:prstGeom>
          <a:noFill/>
        </p:spPr>
        <p:txBody>
          <a:bodyPr wrap="square">
            <a:spAutoFit/>
          </a:bodyPr>
          <a:lstStyle/>
          <a:p>
            <a:pPr marL="527050" marR="723900" algn="just">
              <a:lnSpc>
                <a:spcPct val="115000"/>
              </a:lnSpc>
              <a:spcBef>
                <a:spcPts val="1265"/>
              </a:spcBef>
              <a:buNone/>
            </a:pPr>
            <a:r>
              <a:rPr lang="en-US" sz="1800" dirty="0">
                <a:effectLst/>
                <a:latin typeface="Times New Roman" panose="02020603050405020304" pitchFamily="18" charset="0"/>
                <a:ea typeface="Times New Roman" panose="02020603050405020304" pitchFamily="18" charset="0"/>
              </a:rPr>
              <a:t>[7].M.</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Akram,</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Hwang</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"Architectural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Advancement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Digital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Low-</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Dropout Regulators," in IEEE Access, vol. 8, pp. 137838-137855, 2020, </a:t>
            </a:r>
            <a:r>
              <a:rPr lang="en-US" sz="1800" dirty="0" err="1">
                <a:effectLst/>
                <a:latin typeface="Times New Roman" panose="02020603050405020304" pitchFamily="18" charset="0"/>
                <a:ea typeface="Times New Roman" panose="02020603050405020304" pitchFamily="18" charset="0"/>
              </a:rPr>
              <a:t>doi</a:t>
            </a:r>
            <a:r>
              <a:rPr lang="en-US" sz="1800"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10.1109/ACCESS.2020.3012467.</a:t>
            </a:r>
            <a:endParaRPr lang="en-IN" sz="1800" dirty="0">
              <a:effectLst/>
              <a:latin typeface="Times New Roman" panose="02020603050405020304" pitchFamily="18" charset="0"/>
              <a:ea typeface="Times New Roman" panose="02020603050405020304" pitchFamily="18" charset="0"/>
            </a:endParaRPr>
          </a:p>
          <a:p>
            <a:pPr marL="527050" marR="724535" algn="just">
              <a:lnSpc>
                <a:spcPct val="115000"/>
              </a:lnSpc>
              <a:spcBef>
                <a:spcPts val="1275"/>
              </a:spcBef>
              <a:buNone/>
            </a:pPr>
            <a:r>
              <a:rPr lang="en-US" sz="1800" dirty="0">
                <a:effectLst/>
                <a:latin typeface="Times New Roman" panose="02020603050405020304" pitchFamily="18" charset="0"/>
                <a:ea typeface="Times New Roman" panose="02020603050405020304" pitchFamily="18" charset="0"/>
              </a:rPr>
              <a:t>[8].W.</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Yang,</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Sun,</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Roy</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Chen,</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"Asynchronous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Digital</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Low-</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Dropout Regulator</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Dual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Adjustment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Mode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Ultra-Low</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Voltage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Input,"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IEEE</a:t>
            </a:r>
            <a:r>
              <a:rPr lang="en-US" sz="1800" spc="38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Access,</a:t>
            </a:r>
            <a:r>
              <a:rPr lang="en-US" sz="1800" spc="1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vol. </a:t>
            </a:r>
            <a:r>
              <a:rPr lang="en-US" sz="1800" spc="-25" dirty="0">
                <a:effectLst/>
                <a:latin typeface="Times New Roman" panose="02020603050405020304" pitchFamily="18" charset="0"/>
                <a:ea typeface="Times New Roman" panose="02020603050405020304" pitchFamily="18" charset="0"/>
              </a:rPr>
              <a:t>9,</a:t>
            </a:r>
            <a:endParaRPr lang="en-IN" sz="1800" dirty="0">
              <a:effectLst/>
              <a:latin typeface="Times New Roman" panose="02020603050405020304" pitchFamily="18" charset="0"/>
              <a:ea typeface="Times New Roman" panose="02020603050405020304" pitchFamily="18" charset="0"/>
            </a:endParaRPr>
          </a:p>
          <a:p>
            <a:pPr marL="527050">
              <a:lnSpc>
                <a:spcPts val="1375"/>
              </a:lnSpc>
              <a:buNone/>
            </a:pPr>
            <a:r>
              <a:rPr lang="en-US" sz="1800" dirty="0">
                <a:effectLst/>
                <a:latin typeface="Times New Roman" panose="02020603050405020304" pitchFamily="18" charset="0"/>
                <a:ea typeface="Times New Roman" panose="02020603050405020304" pitchFamily="18" charset="0"/>
              </a:rPr>
              <a:t>pp.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157563-157570, 2021,</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doi</a:t>
            </a:r>
            <a:r>
              <a:rPr lang="en-US" sz="1800"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10.1109/ACCESS.2021.3128948.</a:t>
            </a:r>
            <a:endParaRPr lang="en-IN" sz="1800" dirty="0">
              <a:effectLst/>
              <a:latin typeface="Times New Roman" panose="02020603050405020304" pitchFamily="18" charset="0"/>
              <a:ea typeface="Times New Roman" panose="02020603050405020304" pitchFamily="18" charset="0"/>
            </a:endParaRPr>
          </a:p>
          <a:p>
            <a:pPr>
              <a:spcBef>
                <a:spcPts val="80"/>
              </a:spcBef>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527050" marR="739140" algn="just">
              <a:lnSpc>
                <a:spcPct val="115000"/>
              </a:lnSpc>
              <a:buNone/>
            </a:pPr>
            <a:r>
              <a:rPr lang="en-US" sz="1800" dirty="0">
                <a:effectLst/>
                <a:latin typeface="Times New Roman" panose="02020603050405020304" pitchFamily="18" charset="0"/>
                <a:ea typeface="Times New Roman" panose="02020603050405020304" pitchFamily="18" charset="0"/>
              </a:rPr>
              <a:t>[9].</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Lai</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Trends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Perspectives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Digital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Low</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Dropout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Voltage</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Regulators for Low Voltage Mobile Applications: A Review," in IEEE Access, vol. 11,pp. 85237-85258, 2023, </a:t>
            </a:r>
            <a:r>
              <a:rPr lang="en-US" sz="1800" dirty="0" err="1">
                <a:effectLst/>
                <a:latin typeface="Times New Roman" panose="02020603050405020304" pitchFamily="18" charset="0"/>
                <a:ea typeface="Times New Roman" panose="02020603050405020304" pitchFamily="18" charset="0"/>
              </a:rPr>
              <a:t>doi</a:t>
            </a:r>
            <a:r>
              <a:rPr lang="en-US" sz="1800" dirty="0">
                <a:effectLst/>
                <a:latin typeface="Times New Roman" panose="02020603050405020304" pitchFamily="18" charset="0"/>
                <a:ea typeface="Times New Roman" panose="02020603050405020304" pitchFamily="18" charset="0"/>
              </a:rPr>
              <a:t>: 10.1109/ACCESS.2023.3303809.</a:t>
            </a:r>
            <a:endParaRPr lang="en-IN" sz="1800" dirty="0">
              <a:effectLst/>
              <a:latin typeface="Times New Roman" panose="02020603050405020304" pitchFamily="18" charset="0"/>
              <a:ea typeface="Times New Roman" panose="02020603050405020304" pitchFamily="18" charset="0"/>
            </a:endParaRPr>
          </a:p>
          <a:p>
            <a:pPr marL="527050" algn="just">
              <a:spcBef>
                <a:spcPts val="1230"/>
              </a:spcBef>
              <a:buNone/>
            </a:pPr>
            <a:r>
              <a:rPr lang="en-US" sz="1800" spc="-10" dirty="0">
                <a:effectLst/>
                <a:latin typeface="Times New Roman" panose="02020603050405020304" pitchFamily="18" charset="0"/>
                <a:ea typeface="Times New Roman" panose="02020603050405020304" pitchFamily="18" charset="0"/>
              </a:rPr>
              <a:t>[10].</a:t>
            </a:r>
            <a:r>
              <a:rPr lang="en-US" sz="1800" spc="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https://github.com/VaibhavDachewar/Digital-LDO/tree/main</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665739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Group 1"/>
          <p:cNvGrpSpPr/>
          <p:nvPr/>
        </p:nvGrpSpPr>
        <p:grpSpPr>
          <a:xfrm>
            <a:off x="0" y="72000"/>
            <a:ext cx="12191760" cy="6785640"/>
            <a:chOff x="0" y="72000"/>
            <a:chExt cx="12191760" cy="6785640"/>
          </a:xfrm>
        </p:grpSpPr>
        <p:pic>
          <p:nvPicPr>
            <p:cNvPr id="216" name="Google Shape;142;p113"/>
            <p:cNvPicPr/>
            <p:nvPr/>
          </p:nvPicPr>
          <p:blipFill>
            <a:blip r:embed="rId2"/>
            <a:stretch/>
          </p:blipFill>
          <p:spPr>
            <a:xfrm>
              <a:off x="11211120" y="72000"/>
              <a:ext cx="830520" cy="809640"/>
            </a:xfrm>
            <a:prstGeom prst="rect">
              <a:avLst/>
            </a:prstGeom>
            <a:ln>
              <a:noFill/>
            </a:ln>
          </p:spPr>
        </p:pic>
        <p:sp>
          <p:nvSpPr>
            <p:cNvPr id="217" name="CustomShape 2"/>
            <p:cNvSpPr/>
            <p:nvPr/>
          </p:nvSpPr>
          <p:spPr>
            <a:xfrm>
              <a:off x="3720240" y="6350760"/>
              <a:ext cx="1157760" cy="506880"/>
            </a:xfrm>
            <a:custGeom>
              <a:avLst/>
              <a:gdLst/>
              <a:ahLst/>
              <a:cxnLst/>
              <a:rect l="l" t="t" r="r" b="b"/>
              <a:pathLst>
                <a:path w="1647825" h="721995">
                  <a:moveTo>
                    <a:pt x="1647578" y="0"/>
                  </a:moveTo>
                  <a:lnTo>
                    <a:pt x="357644" y="0"/>
                  </a:lnTo>
                  <a:lnTo>
                    <a:pt x="0" y="721979"/>
                  </a:lnTo>
                  <a:lnTo>
                    <a:pt x="1289933" y="721979"/>
                  </a:lnTo>
                  <a:lnTo>
                    <a:pt x="1647578"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18" name="CustomShape 3"/>
            <p:cNvSpPr/>
            <p:nvPr/>
          </p:nvSpPr>
          <p:spPr>
            <a:xfrm>
              <a:off x="2291400" y="6350760"/>
              <a:ext cx="1157760" cy="506880"/>
            </a:xfrm>
            <a:custGeom>
              <a:avLst/>
              <a:gdLst/>
              <a:ahLst/>
              <a:cxnLst/>
              <a:rect l="l" t="t" r="r" b="b"/>
              <a:pathLst>
                <a:path w="1647825" h="721995">
                  <a:moveTo>
                    <a:pt x="1647579" y="0"/>
                  </a:moveTo>
                  <a:lnTo>
                    <a:pt x="357645" y="0"/>
                  </a:lnTo>
                  <a:lnTo>
                    <a:pt x="0" y="721979"/>
                  </a:lnTo>
                  <a:lnTo>
                    <a:pt x="1289933" y="721979"/>
                  </a:lnTo>
                  <a:lnTo>
                    <a:pt x="1647579" y="0"/>
                  </a:lnTo>
                  <a:close/>
                </a:path>
              </a:pathLst>
            </a:custGeom>
            <a:solidFill>
              <a:srgbClr val="006EAD"/>
            </a:solidFill>
            <a:ln>
              <a:noFill/>
            </a:ln>
          </p:spPr>
          <p:style>
            <a:lnRef idx="0">
              <a:scrgbClr r="0" g="0" b="0"/>
            </a:lnRef>
            <a:fillRef idx="0">
              <a:scrgbClr r="0" g="0" b="0"/>
            </a:fillRef>
            <a:effectRef idx="0">
              <a:scrgbClr r="0" g="0" b="0"/>
            </a:effectRef>
            <a:fontRef idx="minor"/>
          </p:style>
        </p:sp>
        <p:sp>
          <p:nvSpPr>
            <p:cNvPr id="219" name="CustomShape 4"/>
            <p:cNvSpPr/>
            <p:nvPr/>
          </p:nvSpPr>
          <p:spPr>
            <a:xfrm>
              <a:off x="4046400" y="6350760"/>
              <a:ext cx="8145360" cy="506880"/>
            </a:xfrm>
            <a:custGeom>
              <a:avLst/>
              <a:gdLst/>
              <a:ahLst/>
              <a:cxnLst/>
              <a:rect l="l" t="t" r="r" b="b"/>
              <a:pathLst>
                <a:path w="11590655" h="721995">
                  <a:moveTo>
                    <a:pt x="11590369" y="0"/>
                  </a:moveTo>
                  <a:lnTo>
                    <a:pt x="0" y="0"/>
                  </a:lnTo>
                  <a:lnTo>
                    <a:pt x="0" y="721979"/>
                  </a:lnTo>
                  <a:lnTo>
                    <a:pt x="11590369" y="721979"/>
                  </a:lnTo>
                  <a:lnTo>
                    <a:pt x="11590369" y="0"/>
                  </a:lnTo>
                  <a:close/>
                </a:path>
              </a:pathLst>
            </a:custGeom>
            <a:solidFill>
              <a:srgbClr val="FFF400"/>
            </a:solidFill>
            <a:ln>
              <a:noFill/>
            </a:ln>
          </p:spPr>
          <p:style>
            <a:lnRef idx="0">
              <a:scrgbClr r="0" g="0" b="0"/>
            </a:lnRef>
            <a:fillRef idx="0">
              <a:scrgbClr r="0" g="0" b="0"/>
            </a:fillRef>
            <a:effectRef idx="0">
              <a:scrgbClr r="0" g="0" b="0"/>
            </a:effectRef>
            <a:fontRef idx="minor"/>
          </p:style>
        </p:sp>
        <p:sp>
          <p:nvSpPr>
            <p:cNvPr id="220" name="CustomShape 5"/>
            <p:cNvSpPr/>
            <p:nvPr/>
          </p:nvSpPr>
          <p:spPr>
            <a:xfrm>
              <a:off x="0" y="6350760"/>
              <a:ext cx="3173760" cy="506880"/>
            </a:xfrm>
            <a:custGeom>
              <a:avLst/>
              <a:gdLst/>
              <a:ahLst/>
              <a:cxnLst/>
              <a:rect l="l" t="t" r="r" b="b"/>
              <a:pathLst>
                <a:path w="4516755" h="721995">
                  <a:moveTo>
                    <a:pt x="4516274" y="0"/>
                  </a:moveTo>
                  <a:lnTo>
                    <a:pt x="0" y="0"/>
                  </a:lnTo>
                  <a:lnTo>
                    <a:pt x="0" y="721979"/>
                  </a:lnTo>
                  <a:lnTo>
                    <a:pt x="4516274" y="721979"/>
                  </a:lnTo>
                  <a:lnTo>
                    <a:pt x="4516274" y="0"/>
                  </a:lnTo>
                  <a:close/>
                </a:path>
              </a:pathLst>
            </a:custGeom>
            <a:solidFill>
              <a:srgbClr val="006EAD"/>
            </a:solidFill>
            <a:ln>
              <a:noFill/>
            </a:ln>
          </p:spPr>
          <p:style>
            <a:lnRef idx="0">
              <a:scrgbClr r="0" g="0" b="0"/>
            </a:lnRef>
            <a:fillRef idx="0">
              <a:scrgbClr r="0" g="0" b="0"/>
            </a:fillRef>
            <a:effectRef idx="0">
              <a:scrgbClr r="0" g="0" b="0"/>
            </a:effectRef>
            <a:fontRef idx="minor"/>
          </p:style>
        </p:sp>
      </p:grpSp>
      <p:sp>
        <p:nvSpPr>
          <p:cNvPr id="221" name="TextShape 6"/>
          <p:cNvSpPr txBox="1"/>
          <p:nvPr/>
        </p:nvSpPr>
        <p:spPr>
          <a:xfrm>
            <a:off x="5114160" y="6430320"/>
            <a:ext cx="7077240" cy="4006080"/>
          </a:xfrm>
          <a:prstGeom prst="rect">
            <a:avLst/>
          </a:prstGeom>
          <a:noFill/>
          <a:ln>
            <a:noFill/>
          </a:ln>
        </p:spPr>
        <p:txBody>
          <a:bodyPr lIns="0" tIns="28440" rIns="0" bIns="0"/>
          <a:lstStyle/>
          <a:p>
            <a:pPr marL="9000" algn="ctr">
              <a:lnSpc>
                <a:spcPct val="100000"/>
              </a:lnSpc>
            </a:pPr>
            <a:r>
              <a:rPr lang="en-IN" sz="2000" b="1" strike="noStrike" spc="-1">
                <a:solidFill>
                  <a:srgbClr val="000000"/>
                </a:solidFill>
                <a:latin typeface="Calibri"/>
                <a:ea typeface="Calibri"/>
              </a:rPr>
              <a:t>Dayananda Sagar Academy of Technology &amp; Management</a:t>
            </a:r>
            <a:endParaRPr lang="en-IN" sz="2000" b="0" strike="noStrike" spc="-1">
              <a:latin typeface="Times New Roman"/>
            </a:endParaRPr>
          </a:p>
        </p:txBody>
      </p:sp>
      <p:sp>
        <p:nvSpPr>
          <p:cNvPr id="222" name="CustomShape 7"/>
          <p:cNvSpPr/>
          <p:nvPr/>
        </p:nvSpPr>
        <p:spPr>
          <a:xfrm>
            <a:off x="2597160" y="2467787"/>
            <a:ext cx="6625440" cy="2529000"/>
          </a:xfrm>
          <a:prstGeom prst="rect">
            <a:avLst/>
          </a:prstGeom>
          <a:noFill/>
          <a:ln>
            <a:noFill/>
          </a:ln>
        </p:spPr>
        <p:style>
          <a:lnRef idx="0">
            <a:scrgbClr r="0" g="0" b="0"/>
          </a:lnRef>
          <a:fillRef idx="0">
            <a:scrgbClr r="0" g="0" b="0"/>
          </a:fillRef>
          <a:effectRef idx="0">
            <a:scrgbClr r="0" g="0" b="0"/>
          </a:effectRef>
          <a:fontRef idx="minor"/>
        </p:style>
        <p:txBody>
          <a:bodyPr/>
          <a:lstStyle/>
          <a:p>
            <a:pPr algn="ctr">
              <a:lnSpc>
                <a:spcPct val="100000"/>
              </a:lnSpc>
            </a:pPr>
            <a:r>
              <a:rPr lang="en-IN" sz="8000" b="1" strike="noStrike" spc="-1" dirty="0">
                <a:solidFill>
                  <a:srgbClr val="536DB5"/>
                </a:solidFill>
                <a:latin typeface="Calibri"/>
                <a:ea typeface="Calibri"/>
              </a:rPr>
              <a:t>T</a:t>
            </a:r>
            <a:r>
              <a:rPr lang="en-IN" sz="8000" b="1" strike="noStrike" spc="-1" dirty="0">
                <a:solidFill>
                  <a:srgbClr val="C00000"/>
                </a:solidFill>
                <a:latin typeface="Calibri"/>
                <a:ea typeface="Calibri"/>
              </a:rPr>
              <a:t>H</a:t>
            </a:r>
            <a:r>
              <a:rPr lang="en-IN" sz="8000" b="1" strike="noStrike" spc="-1" dirty="0">
                <a:solidFill>
                  <a:srgbClr val="00B0F0"/>
                </a:solidFill>
                <a:latin typeface="Calibri"/>
                <a:ea typeface="Calibri"/>
              </a:rPr>
              <a:t>A</a:t>
            </a:r>
            <a:r>
              <a:rPr lang="en-IN" sz="8000" b="1" strike="noStrike" spc="-1" dirty="0">
                <a:solidFill>
                  <a:srgbClr val="70AD47"/>
                </a:solidFill>
                <a:latin typeface="Calibri"/>
                <a:ea typeface="Calibri"/>
              </a:rPr>
              <a:t>N</a:t>
            </a:r>
            <a:r>
              <a:rPr lang="en-IN" sz="8000" b="1" strike="noStrike" spc="-1" dirty="0">
                <a:solidFill>
                  <a:srgbClr val="FF0000"/>
                </a:solidFill>
                <a:latin typeface="Calibri"/>
                <a:ea typeface="Calibri"/>
              </a:rPr>
              <a:t>K</a:t>
            </a:r>
            <a:r>
              <a:rPr lang="en-IN" sz="8000" b="1" strike="noStrike" spc="-1" dirty="0">
                <a:solidFill>
                  <a:srgbClr val="536DB5"/>
                </a:solidFill>
                <a:latin typeface="Calibri"/>
                <a:ea typeface="Calibri"/>
              </a:rPr>
              <a:t> </a:t>
            </a:r>
            <a:r>
              <a:rPr lang="en-IN" sz="8000" b="1" strike="noStrike" spc="-1" dirty="0">
                <a:solidFill>
                  <a:srgbClr val="660000"/>
                </a:solidFill>
                <a:latin typeface="Calibri"/>
                <a:ea typeface="Calibri"/>
              </a:rPr>
              <a:t>Y</a:t>
            </a:r>
            <a:r>
              <a:rPr lang="en-IN" sz="8000" b="1" strike="noStrike" spc="-1" dirty="0">
                <a:solidFill>
                  <a:srgbClr val="A64D79"/>
                </a:solidFill>
                <a:latin typeface="Calibri"/>
                <a:ea typeface="Calibri"/>
              </a:rPr>
              <a:t>O</a:t>
            </a:r>
            <a:r>
              <a:rPr lang="en-IN" sz="8000" b="1" strike="noStrike" spc="-1" dirty="0">
                <a:solidFill>
                  <a:srgbClr val="FF9900"/>
                </a:solidFill>
                <a:latin typeface="Calibri"/>
                <a:ea typeface="Calibri"/>
              </a:rPr>
              <a:t>U  </a:t>
            </a:r>
            <a:endParaRPr lang="en-IN" sz="8000" b="0" strike="noStrike" spc="-1" dirty="0">
              <a:latin typeface="Arial"/>
            </a:endParaRPr>
          </a:p>
        </p:txBody>
      </p:sp>
      <p:sp>
        <p:nvSpPr>
          <p:cNvPr id="223" name="CustomShape 8"/>
          <p:cNvSpPr/>
          <p:nvPr/>
        </p:nvSpPr>
        <p:spPr>
          <a:xfrm>
            <a:off x="1119960" y="2813400"/>
            <a:ext cx="10504800" cy="49212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1003</TotalTime>
  <Words>2247</Words>
  <Application>Microsoft Office PowerPoint</Application>
  <PresentationFormat>Widescreen</PresentationFormat>
  <Paragraphs>298</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Symbol</vt:lpstr>
      <vt:lpstr>Time NEW ROMAN</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DSATM</dc:creator>
  <dc:description/>
  <cp:lastModifiedBy>Allumalla Yaswanth</cp:lastModifiedBy>
  <cp:revision>59</cp:revision>
  <dcterms:created xsi:type="dcterms:W3CDTF">2022-09-22T06:12:38Z</dcterms:created>
  <dcterms:modified xsi:type="dcterms:W3CDTF">2026-01-05T03:27:48Z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17</vt:i4>
  </property>
</Properties>
</file>